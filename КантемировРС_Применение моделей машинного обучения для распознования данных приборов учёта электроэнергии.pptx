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28.png" ContentType="image/png"/>
  <Override PartName="/ppt/media/image27.png" ContentType="image/png"/>
  <Override PartName="/ppt/media/image14.svg" ContentType="image/svg"/>
  <Override PartName="/ppt/media/image26.png" ContentType="image/png"/>
  <Override PartName="/ppt/media/image25.png" ContentType="image/png"/>
  <Override PartName="/ppt/media/image12.svg" ContentType="image/svg"/>
  <Override PartName="/ppt/media/image24.png" ContentType="image/png"/>
  <Override PartName="/ppt/media/image23.png" ContentType="image/png"/>
  <Override PartName="/ppt/media/image10.svg" ContentType="image/svg"/>
  <Override PartName="/ppt/media/image22.png" ContentType="image/png"/>
  <Override PartName="/ppt/media/image21.png" ContentType="image/png"/>
  <Override PartName="/ppt/media/image19.png" ContentType="image/png"/>
  <Override PartName="/ppt/media/image17.png" ContentType="image/png"/>
  <Override PartName="/ppt/media/image16.svg" ContentType="image/svg"/>
  <Override PartName="/ppt/media/image2.jpeg" ContentType="image/jpeg"/>
  <Override PartName="/ppt/media/image20.png" ContentType="image/png"/>
  <Override PartName="/ppt/media/image15.png" ContentType="image/png"/>
  <Override PartName="/ppt/media/image33.svg" ContentType="image/svg"/>
  <Override PartName="/ppt/media/image3.jpeg" ContentType="image/jpeg"/>
  <Override PartName="/ppt/media/image30.png" ContentType="image/png"/>
  <Override PartName="/ppt/media/image34.jpeg" ContentType="image/jpeg"/>
  <Override PartName="/ppt/media/image37.png" ContentType="image/png"/>
  <Override PartName="/ppt/media/image36.svg" ContentType="image/svg"/>
  <Override PartName="/ppt/media/image44.jpeg" ContentType="image/jpeg"/>
  <Override PartName="/ppt/media/image45.png" ContentType="image/png"/>
  <Override PartName="/ppt/media/image1.png" ContentType="image/png"/>
  <Override PartName="/ppt/media/image38.svg" ContentType="image/svg"/>
  <Override PartName="/ppt/media/image40.svg" ContentType="image/svg"/>
  <Override PartName="/ppt/media/image41.png" ContentType="image/png"/>
  <Override PartName="/ppt/media/image42.svg" ContentType="image/svg"/>
  <Override PartName="/ppt/media/image35.png" ContentType="image/png"/>
  <Override PartName="/ppt/media/image5.jpeg" ContentType="image/jpeg"/>
  <Override PartName="/ppt/media/image47.png" ContentType="image/png"/>
  <Override PartName="/ppt/media/image46.jpeg" ContentType="image/jpeg"/>
  <Override PartName="/ppt/media/image32.png" ContentType="image/png"/>
  <Override PartName="/ppt/media/image31.svg" ContentType="image/svg"/>
  <Override PartName="/ppt/media/image9.png" ContentType="image/png"/>
  <Override PartName="/ppt/media/image29.svg" ContentType="image/svg"/>
  <Override PartName="/ppt/media/image6.jpeg" ContentType="image/jpeg"/>
  <Override PartName="/ppt/media/image18.png" ContentType="image/png"/>
  <Override PartName="/ppt/media/image11.png" ContentType="image/png"/>
  <Override PartName="/ppt/media/image39.png" ContentType="image/png"/>
  <Override PartName="/ppt/media/image43.jpeg" ContentType="image/jpeg"/>
  <Override PartName="/ppt/media/image7.png" ContentType="image/png"/>
  <Override PartName="/ppt/media/image13.png" ContentType="image/png"/>
  <Override PartName="/ppt/media/image4.png" ContentType="image/png"/>
  <Override PartName="/ppt/media/image8.svg" ContentType="image/svg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29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1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81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2528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3.jpeg"/><Relationship Id="rId6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image" Target="../media/image3.jpeg"/><Relationship Id="rId8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svg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openxmlformats.org/officeDocument/2006/relationships/image" Target="../media/image3.jpeg"/><Relationship Id="rId9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3.jpeg"/><Relationship Id="rId6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3.jpeg"/><Relationship Id="rId7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svg"/><Relationship Id="rId3" Type="http://schemas.openxmlformats.org/officeDocument/2006/relationships/image" Target="../media/image28.pn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31.svg"/><Relationship Id="rId7" Type="http://schemas.openxmlformats.org/officeDocument/2006/relationships/image" Target="../media/image32.png"/><Relationship Id="rId8" Type="http://schemas.openxmlformats.org/officeDocument/2006/relationships/image" Target="../media/image33.svg"/><Relationship Id="rId9" Type="http://schemas.openxmlformats.org/officeDocument/2006/relationships/image" Target="../media/image27.png"/><Relationship Id="rId10" Type="http://schemas.openxmlformats.org/officeDocument/2006/relationships/image" Target="../media/image3.jpeg"/><Relationship Id="rId11" Type="http://schemas.openxmlformats.org/officeDocument/2006/relationships/image" Target="../media/image32.png"/><Relationship Id="rId12" Type="http://schemas.openxmlformats.org/officeDocument/2006/relationships/image" Target="../media/image33.svg"/><Relationship Id="rId13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svg"/><Relationship Id="rId3" Type="http://schemas.openxmlformats.org/officeDocument/2006/relationships/image" Target="../media/image37.png"/><Relationship Id="rId4" Type="http://schemas.openxmlformats.org/officeDocument/2006/relationships/image" Target="../media/image38.svg"/><Relationship Id="rId5" Type="http://schemas.openxmlformats.org/officeDocument/2006/relationships/image" Target="../media/image35.png"/><Relationship Id="rId6" Type="http://schemas.openxmlformats.org/officeDocument/2006/relationships/image" Target="../media/image36.svg"/><Relationship Id="rId7" Type="http://schemas.openxmlformats.org/officeDocument/2006/relationships/image" Target="../media/image39.png"/><Relationship Id="rId8" Type="http://schemas.openxmlformats.org/officeDocument/2006/relationships/image" Target="../media/image40.svg"/><Relationship Id="rId9" Type="http://schemas.openxmlformats.org/officeDocument/2006/relationships/image" Target="../media/image41.png"/><Relationship Id="rId10" Type="http://schemas.openxmlformats.org/officeDocument/2006/relationships/image" Target="../media/image42.svg"/><Relationship Id="rId11" Type="http://schemas.openxmlformats.org/officeDocument/2006/relationships/image" Target="../media/image41.png"/><Relationship Id="rId12" Type="http://schemas.openxmlformats.org/officeDocument/2006/relationships/image" Target="../media/image42.svg"/><Relationship Id="rId13" Type="http://schemas.openxmlformats.org/officeDocument/2006/relationships/image" Target="../media/image3.jpeg"/><Relationship Id="rId14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/>
          <p:nvPr/>
        </p:nvPicPr>
        <p:blipFill>
          <a:blip r:embed="rId1"/>
          <a:stretch/>
        </p:blipFill>
        <p:spPr>
          <a:xfrm>
            <a:off x="7619760" y="0"/>
            <a:ext cx="45716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 0"/>
          <p:cNvSpPr/>
          <p:nvPr/>
        </p:nvSpPr>
        <p:spPr>
          <a:xfrm>
            <a:off x="698040" y="1482480"/>
            <a:ext cx="6223320" cy="20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Система компьютерного зрения для распознавания показаний счётчиков электроэнергии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698040" y="3797280"/>
            <a:ext cx="6223320" cy="11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Дипломная работа посвящена разработке автоматизированной системы на основе нейронных сетей, для извлечения показаний приборов учёта электрической энергии с их изображений, полученных в реальных условиях эксплуатации.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Shape 2"/>
          <p:cNvSpPr/>
          <p:nvPr/>
        </p:nvSpPr>
        <p:spPr>
          <a:xfrm>
            <a:off x="1444680" y="5106240"/>
            <a:ext cx="1775520" cy="264600"/>
          </a:xfrm>
          <a:prstGeom prst="roundRect">
            <a:avLst>
              <a:gd name="adj" fmla="val 7901"/>
            </a:avLst>
          </a:prstGeom>
          <a:solidFill>
            <a:srgbClr val="4904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3"/>
          <p:cNvSpPr/>
          <p:nvPr/>
        </p:nvSpPr>
        <p:spPr>
          <a:xfrm>
            <a:off x="994680" y="5158800"/>
            <a:ext cx="21754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КОМПЬЮТЕРНОЕ ЗРЕНИЕ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4"/>
          <p:cNvSpPr/>
          <p:nvPr/>
        </p:nvSpPr>
        <p:spPr>
          <a:xfrm>
            <a:off x="3307680" y="5106240"/>
            <a:ext cx="1492200" cy="264600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5"/>
          <p:cNvSpPr/>
          <p:nvPr/>
        </p:nvSpPr>
        <p:spPr>
          <a:xfrm>
            <a:off x="3366360" y="5158800"/>
            <a:ext cx="1779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98ac7"/>
                </a:solidFill>
                <a:effectLst/>
                <a:uFillTx/>
                <a:latin typeface="Source Sans 3"/>
                <a:ea typeface="Source Sans 3"/>
              </a:rPr>
              <a:t>YOLOV8 + PP-OCRV3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4959360" y="5106240"/>
            <a:ext cx="465840" cy="264600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7"/>
          <p:cNvSpPr/>
          <p:nvPr/>
        </p:nvSpPr>
        <p:spPr>
          <a:xfrm>
            <a:off x="5029560" y="5150880"/>
            <a:ext cx="8661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98ac7"/>
                </a:solidFill>
                <a:effectLst/>
                <a:uFillTx/>
                <a:latin typeface="Source Sans 3"/>
                <a:ea typeface="Source Sans 3"/>
              </a:rPr>
              <a:t>AMR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" name="Таблица 12"/>
          <p:cNvGraphicFramePr/>
          <p:nvPr/>
        </p:nvGraphicFramePr>
        <p:xfrm>
          <a:off x="4143960" y="5535360"/>
          <a:ext cx="3444480" cy="1454400"/>
        </p:xfrm>
        <a:graphic>
          <a:graphicData uri="http://schemas.openxmlformats.org/drawingml/2006/table">
            <a:tbl>
              <a:tblPr/>
              <a:tblGrid>
                <a:gridCol w="3444840"/>
              </a:tblGrid>
              <a:tr h="60768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Source Sans 3"/>
                          <a:ea typeface="Arial"/>
                        </a:rPr>
                        <a:t>Автор: 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Source Sans 3"/>
                          <a:ea typeface="Arial"/>
                        </a:rPr>
                        <a:t>Кантемиров Роман группа AML-68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Source Sans 3"/>
                          <a:ea typeface="Calibri"/>
                        </a:rPr>
                        <a:t>Руководитель дипломного проекта: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Source Sans 3"/>
                          <a:ea typeface="Arial"/>
                        </a:rPr>
                        <a:t>Даниил Корбут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noFill/>
                      <a:prstDash val="dashDot"/>
                    </a:lnL>
                    <a:lnR w="12240">
                      <a:noFill/>
                      <a:prstDash val="dashDot"/>
                    </a:lnR>
                    <a:lnT w="12240">
                      <a:noFill/>
                      <a:prstDash val="dashDot"/>
                    </a:lnT>
                    <a:lnB w="38160">
                      <a:noFill/>
                      <a:prstDash val="dashDot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698040" y="578880"/>
            <a:ext cx="1079532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Постановка задачи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572400" y="1353960"/>
            <a:ext cx="5436000" cy="3890520"/>
          </a:xfrm>
          <a:prstGeom prst="roundRect">
            <a:avLst>
              <a:gd name="adj" fmla="val 673"/>
            </a:avLst>
          </a:prstGeom>
          <a:solidFill>
            <a:srgbClr val="f98a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747000" y="1528560"/>
            <a:ext cx="50868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Lora"/>
                <a:ea typeface="Lora"/>
              </a:rPr>
              <a:t>Цель работы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747000" y="1959840"/>
            <a:ext cx="50868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Выбор и обучение оптимальной архитектуры нейронной сети для детектирования текстовых полей счётчиков электроэнергии и распознавания данных, содержащихся в этих полях.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6315120" y="1528560"/>
            <a:ext cx="518436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Задачи исследования</a:t>
            </a:r>
            <a:r>
              <a:rPr b="0" lang="ru-RU" sz="16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: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6315120" y="1981440"/>
            <a:ext cx="34884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01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6315120" y="2259000"/>
            <a:ext cx="5184360" cy="18720"/>
          </a:xfrm>
          <a:prstGeom prst="rect">
            <a:avLst/>
          </a:prstGeom>
          <a:solidFill>
            <a:srgbClr val="6eb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6315120" y="2384280"/>
            <a:ext cx="51843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Провести обзор методов и технологий в предметной области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6315120" y="2968920"/>
            <a:ext cx="34884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02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9"/>
          <p:cNvSpPr/>
          <p:nvPr/>
        </p:nvSpPr>
        <p:spPr>
          <a:xfrm>
            <a:off x="6315120" y="3229200"/>
            <a:ext cx="5184360" cy="18720"/>
          </a:xfrm>
          <a:prstGeom prst="rect">
            <a:avLst/>
          </a:prstGeom>
          <a:solidFill>
            <a:srgbClr val="6eb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6315120" y="3371760"/>
            <a:ext cx="51843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Исследовать существующие подходы и обосновать выбор моделей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6315120" y="3956400"/>
            <a:ext cx="34884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03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2"/>
          <p:cNvSpPr/>
          <p:nvPr/>
        </p:nvSpPr>
        <p:spPr>
          <a:xfrm>
            <a:off x="6315120" y="4199040"/>
            <a:ext cx="5184360" cy="18720"/>
          </a:xfrm>
          <a:prstGeom prst="rect">
            <a:avLst/>
          </a:prstGeom>
          <a:solidFill>
            <a:srgbClr val="6eb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6315120" y="4359240"/>
            <a:ext cx="5184360" cy="5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Разработать автоматизированную систему извлечения целевой информации с изображений приборов учёта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698040" y="5441400"/>
            <a:ext cx="10795320" cy="10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Объект исследования</a:t>
            </a: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— процесс создания системы компьютерного зрения для извлечения целевой информации на основе анализа изображений приборов учёта. 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Предмет исследования</a:t>
            </a: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— технологии детектирования объектов на изображении и алгоритмы оптического распознавания текстовой информации (OCR).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Рисунок 18" descr=""/>
          <p:cNvPicPr/>
          <p:nvPr/>
        </p:nvPicPr>
        <p:blipFill>
          <a:blip r:embed="rId1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" descr=""/>
          <p:cNvPicPr/>
          <p:nvPr/>
        </p:nvPicPr>
        <p:blipFill>
          <a:blip r:embed="rId2"/>
          <a:stretch/>
        </p:blipFill>
        <p:spPr>
          <a:xfrm>
            <a:off x="1526400" y="3062520"/>
            <a:ext cx="3513600" cy="197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45716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0"/>
          <p:cNvSpPr/>
          <p:nvPr/>
        </p:nvSpPr>
        <p:spPr>
          <a:xfrm>
            <a:off x="5270040" y="509400"/>
            <a:ext cx="622332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30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Типы приборов учёта и специфика данных</a:t>
            </a:r>
            <a:endParaRPr b="0" lang="ru-RU" sz="3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"/>
          <p:cNvSpPr/>
          <p:nvPr/>
        </p:nvSpPr>
        <p:spPr>
          <a:xfrm>
            <a:off x="5270040" y="1725840"/>
            <a:ext cx="3032280" cy="3011400"/>
          </a:xfrm>
          <a:prstGeom prst="roundRect">
            <a:avLst>
              <a:gd name="adj" fmla="val 829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5436360" y="1892160"/>
            <a:ext cx="26996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Механические счётчики: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5436360" y="2232000"/>
            <a:ext cx="2699640" cy="23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Наиболее распространённый тип. </a:t>
            </a:r>
            <a:r>
              <a:rPr b="0" lang="ru-RU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Специфика: Сегменты счётного механизма могут занимать промежуточные</a:t>
            </a: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положения</a:t>
            </a:r>
            <a:r>
              <a:rPr b="0" lang="ru-RU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.</a:t>
            </a: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Последн</a:t>
            </a:r>
            <a:r>
              <a:rPr b="0" lang="ru-RU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яя</a:t>
            </a: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</a:t>
            </a:r>
            <a:r>
              <a:rPr b="0" lang="ru-RU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цифра обозначает дробную часть</a:t>
            </a: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кВт·ч. 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Правило разметки: промежуточная цифра — нижнее значение (кроме перехода 9 - 0).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8461080" y="1725840"/>
            <a:ext cx="3032280" cy="3011400"/>
          </a:xfrm>
          <a:prstGeom prst="roundRect">
            <a:avLst>
              <a:gd name="adj" fmla="val 829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8627400" y="1892160"/>
            <a:ext cx="26996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Электронные счётчики: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8627400" y="2232000"/>
            <a:ext cx="2699640" cy="181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30000"/>
              </a:lnSpc>
            </a:pPr>
            <a:r>
              <a:rPr b="0" lang="ru-RU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Специфика: </a:t>
            </a: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7-сегментные LCD/LED-дисплеи. Стандартизированная геометрия, но возможны: слабый контраст сегментов, динамическое обновление (размытие при съёмке), десятичная точка в младшем разряде.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7"/>
          <p:cNvSpPr/>
          <p:nvPr/>
        </p:nvSpPr>
        <p:spPr>
          <a:xfrm>
            <a:off x="5270040" y="4896360"/>
            <a:ext cx="6223320" cy="1451880"/>
          </a:xfrm>
          <a:prstGeom prst="roundRect">
            <a:avLst>
              <a:gd name="adj" fmla="val 1718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5436360" y="5062680"/>
            <a:ext cx="58906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Условия съёмки: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5436360" y="5307120"/>
            <a:ext cx="5890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19999"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Фотографии из неконтролируемых условий: размытие, блики, загрязнения, перспективные искажения, повороты</a:t>
            </a:r>
            <a:r>
              <a:rPr b="0" lang="ru-RU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– предполагают этапы предобработки</a:t>
            </a: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</a:t>
            </a:r>
            <a:r>
              <a:rPr b="0" lang="ru-RU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Основной ф</a:t>
            </a: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ормат</a:t>
            </a:r>
            <a:r>
              <a:rPr b="0" lang="ru-RU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изображения</a:t>
            </a: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: JPEG/PNG, 480×640 или 640×480 px, RGB 24 бита.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Рисунок 12" descr=""/>
          <p:cNvPicPr/>
          <p:nvPr/>
        </p:nvPicPr>
        <p:blipFill>
          <a:blip r:embed="rId2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preencoded.png"/>
          <p:cNvPicPr/>
          <p:nvPr/>
        </p:nvPicPr>
        <p:blipFill>
          <a:blip r:embed="rId1"/>
          <a:stretch/>
        </p:blipFill>
        <p:spPr>
          <a:xfrm>
            <a:off x="7619760" y="0"/>
            <a:ext cx="45716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0"/>
          <p:cNvSpPr/>
          <p:nvPr/>
        </p:nvSpPr>
        <p:spPr>
          <a:xfrm>
            <a:off x="698040" y="1459800"/>
            <a:ext cx="6223320" cy="15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Данные для распознавания показаний счётчиков электроэнергии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698040" y="3261600"/>
            <a:ext cx="6223320" cy="16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Исходные данные для задачь автоматического считывания показаний (AMR) обладают выраженной гетерогенностью: они охватывают несколько принципиально разных типов приборов учёта, каждый из которых формирует собственный визуальный паттерн и собственный набор признаков для алгоритмов машинного обучения. Это определяет выбор архитектур моделей ML, стратегий аугментации, методов предобработки и постобработки информации.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Рисунок 10" descr=""/>
          <p:cNvPicPr/>
          <p:nvPr/>
        </p:nvPicPr>
        <p:blipFill>
          <a:blip r:embed="rId2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698040" y="534960"/>
            <a:ext cx="1079532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Гетерогенность исходных данных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698040" y="1323000"/>
            <a:ext cx="1079532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85000" lnSpcReduction="9999"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Данные для обучения моделей AMR принципиально отличаются от «чистых» датасетов компьютерного зрения наличием возможных деградаций, характерных для реальной эксплуатации системы. Это их ключевая особенность, определяющая сложность задач детекции и расрпознавания целевой инфлормации.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580320" y="2002680"/>
            <a:ext cx="5433480" cy="4320000"/>
          </a:xfrm>
          <a:prstGeom prst="roundRect">
            <a:avLst>
              <a:gd name="adj" fmla="val 568"/>
            </a:avLst>
          </a:prstGeom>
          <a:solidFill>
            <a:srgbClr val="f98a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743760" y="2156040"/>
            <a:ext cx="510624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Lora"/>
                <a:ea typeface="Lora"/>
              </a:rPr>
              <a:t>Источники изображений: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743760" y="2507760"/>
            <a:ext cx="5106240" cy="13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marL="254160" indent="-254160" defTabSz="914400">
              <a:lnSpc>
                <a:spcPct val="129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Линейный персонал энергосбытовых компаний и ресурсоснабжающих организаций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ct val="129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Абоненты, самостоятельно фотографирующие счётчики и отправляющие их через соответствующие сервисы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ct val="129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Стационарные камеры, смонтированные на подстанциях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6301800" y="2156040"/>
            <a:ext cx="519768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Формат изображений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6301800" y="2549880"/>
            <a:ext cx="5197680" cy="12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Основным форматом изображений является JPEG и PNG с разрешением </a:t>
            </a:r>
            <a:r>
              <a:rPr b="1" lang="en-US" sz="12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480×640</a:t>
            </a: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или </a:t>
            </a:r>
            <a:r>
              <a:rPr b="1" lang="en-US" sz="12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640×480</a:t>
            </a: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пикселей, RGB (24 бита). Стандартное разрешение обусловлено типичными характеристиками мобильных камер и стационарных устройств съёмки, используемых в полевых условиях.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6301800" y="3970800"/>
            <a:ext cx="519768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ru-RU" sz="15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Возможные искажения изображаний: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6301800" y="4365000"/>
            <a:ext cx="5197680" cy="11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marL="254160" indent="-254160" defTabSz="914400">
              <a:lnSpc>
                <a:spcPct val="12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Размытие изображения (motion blur, defocus)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ct val="12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Блики и отражения на защитном стекле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ct val="12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Загрязнения и потёртости поверхности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ct val="12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Перспективные искажения и повороты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Рисунок 12" descr=""/>
          <p:cNvPicPr/>
          <p:nvPr/>
        </p:nvPicPr>
        <p:blipFill>
          <a:blip r:embed="rId1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698040" y="1008720"/>
            <a:ext cx="1079532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Механические счётчики: визуальные особенности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698040" y="1871280"/>
            <a:ext cx="10795320" cy="11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Счётчики с механическим отсчётным устройством до сих пор являются наиболее распространённым типом приборов учёта. В них показания отображаются в механическом окне, где видны несколько роликовых барабанов, расположенных горизонтально. Каждый тип механических счётчиков формирует собственный визуальный паттерн и, соответственно, собственный набор сложностей для алгоритмов машинного обучения.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698040" y="3184200"/>
            <a:ext cx="3481560" cy="2664360"/>
          </a:xfrm>
          <a:prstGeom prst="roundRect">
            <a:avLst>
              <a:gd name="adj" fmla="val 982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872640" y="3358800"/>
            <a:ext cx="313272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Промежуточные положения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872640" y="3720240"/>
            <a:ext cx="3132720" cy="19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Каждый барабан может находиться в промежуточном положении между двумя цифрами — это </a:t>
            </a:r>
            <a:r>
              <a:rPr b="1" lang="en-US" sz="13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критическая особенность</a:t>
            </a: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, отличающая механические счётчики от цифровых и создающая основную сложность при распознавании.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4354560" y="3184200"/>
            <a:ext cx="3481920" cy="2664360"/>
          </a:xfrm>
          <a:prstGeom prst="roundRect">
            <a:avLst>
              <a:gd name="adj" fmla="val 982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4529160" y="3358800"/>
            <a:ext cx="313272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Рельеф цифр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4529160" y="3720240"/>
            <a:ext cx="3132720" cy="19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Цифры на барабанах-серментах  физически рельефны, что создаёт дополнительные тени и блики при съёмке.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8"/>
          <p:cNvSpPr/>
          <p:nvPr/>
        </p:nvSpPr>
        <p:spPr>
          <a:xfrm>
            <a:off x="8011440" y="3184200"/>
            <a:ext cx="3481920" cy="2664360"/>
          </a:xfrm>
          <a:prstGeom prst="roundRect">
            <a:avLst>
              <a:gd name="adj" fmla="val 982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8186040" y="3358800"/>
            <a:ext cx="313272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ru-RU" sz="1600" strike="noStrike" u="none">
                <a:solidFill>
                  <a:srgbClr val="d6e5ef"/>
                </a:solidFill>
                <a:effectLst/>
                <a:uFillTx/>
                <a:latin typeface="Lora"/>
                <a:ea typeface="Arial"/>
              </a:rPr>
              <a:t>Дробная часть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8186040" y="3720240"/>
            <a:ext cx="3132720" cy="16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Последний (правый) </a:t>
            </a:r>
            <a:r>
              <a:rPr b="0" lang="ru-RU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сегмент</a:t>
            </a: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часто окрашен в красный цвет и обозначает доли к</a:t>
            </a:r>
            <a:r>
              <a:rPr b="0" lang="ru-RU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Вт.</a:t>
            </a: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ч. Этот визуальный маркер является отдельным элементом, требующим распознавания и специальной обработки.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Рисунок 12" descr=""/>
          <p:cNvPicPr/>
          <p:nvPr/>
        </p:nvPicPr>
        <p:blipFill>
          <a:blip r:embed="rId1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698040" y="510840"/>
            <a:ext cx="10795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8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Разметка механических счётчиков. Определение промежуточных положений сегментов счётного механизма</a:t>
            </a:r>
            <a:endParaRPr b="0" lang="ru-RU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698040" y="1490400"/>
            <a:ext cx="11181960" cy="10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defTabSz="914400">
              <a:lnSpc>
                <a:spcPct val="126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Специфика разметки для механических счётчиков обусловлена критически важным алгоритмом обработки промежуточных положений </a:t>
            </a:r>
            <a:r>
              <a:rPr b="0" lang="ru-RU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составных частей счётного механизма</a:t>
            </a: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. Чтобы корректно интерпретировать «полуцифру», система должна не просто классифицировать видимый фрагмент, а определить степень поворота колеса и в какую сторону оно движется.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98040" y="2603520"/>
            <a:ext cx="5439600" cy="31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3"/>
          <p:cNvSpPr/>
          <p:nvPr/>
        </p:nvSpPr>
        <p:spPr>
          <a:xfrm>
            <a:off x="1116000" y="2813760"/>
            <a:ext cx="2388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26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Двухмодельный подход (Full vs Half):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1080000" y="3180960"/>
            <a:ext cx="49914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26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ru-RU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Данный метод предлагает использовать две отдельные нейросетевые модели (например, на базе YOLO). Одна модель обучается распознавать полные (целые) цифры, а другая — полуцифры (фрагменты). Затем результаты сопоставляются по позициям колес, и с помощью логики переноса (когда колесо младшего разряда переходит от 9 к 0, старший разряд увеличивается на 1) формируется итоговое значение.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77480" y="2603520"/>
            <a:ext cx="5402520" cy="31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5"/>
          <p:cNvSpPr/>
          <p:nvPr/>
        </p:nvSpPr>
        <p:spPr>
          <a:xfrm>
            <a:off x="6876720" y="2813760"/>
            <a:ext cx="4414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defTabSz="914400">
              <a:lnSpc>
                <a:spcPct val="126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Мультимодальный анализ (YOLO + VLM):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6876720" y="3193200"/>
            <a:ext cx="4954680" cy="23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defTabSz="914400">
              <a:lnSpc>
                <a:spcPct val="126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Arial"/>
              </a:rPr>
              <a:t>Этот подход предполагает комбинацию детектора объектов (YOLO) и визуально-языковой модели (CogVLM2). Детектор находит сегменты с цифрами, а VLM выполняет «семантическое рассуждение», анализируя визуальные и смысловые подсказки, чтобы определить состояние полуцифровым, какое число оно представляет. Далее модуль слияния с учетом позиции объединяет эти данные для формирования последовательного чтения. Такой подход позволяет исправлять ошибки, связанные с переходными состояниями, повышая точность с 93.5% до 97.1%.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734040" y="5805000"/>
            <a:ext cx="11181960" cy="70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26000"/>
              </a:lnSpc>
              <a:spcAft>
                <a:spcPts val="950"/>
              </a:spcAft>
              <a:tabLst>
                <a:tab algn="l" pos="0"/>
              </a:tabLst>
            </a:pPr>
            <a:r>
              <a:rPr b="0" lang="en-US" sz="1200" strike="noStrike" u="none">
                <a:solidFill>
                  <a:srgbClr val="b3cac7"/>
                </a:solidFill>
                <a:effectLst/>
                <a:uFillTx/>
                <a:latin typeface="Source Sans 3"/>
                <a:ea typeface="Source Sans 3"/>
              </a:rPr>
              <a:t>Промежуточное положение цифрового колеса счётного механизма — это не ошибка съёмки, а нормальное состояние прибора учёта. Классические алгоритмы распознования символов, не учитывающие этот фактор, будут систематически ошибаться при определении показаний, поэтому не подходят для решения поставленной задачи.</a:t>
            </a:r>
            <a:endParaRPr b="0" lang="ru-RU" sz="1200" strike="noStrike" u="none">
              <a:solidFill>
                <a:srgbClr val="b3cac7"/>
              </a:solidFill>
              <a:effectLst/>
              <a:uFillTx/>
              <a:latin typeface="Arial"/>
            </a:endParaRPr>
          </a:p>
        </p:txBody>
      </p:sp>
      <p:pic>
        <p:nvPicPr>
          <p:cNvPr id="79" name="Рисунок 14" descr=""/>
          <p:cNvPicPr/>
          <p:nvPr/>
        </p:nvPicPr>
        <p:blipFill>
          <a:blip r:embed="rId5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698040" y="856080"/>
            <a:ext cx="1079532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Электронные счётчики: LCD и LED дисплеи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698040" y="1718280"/>
            <a:ext cx="1079532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Современные электронные счётчики отображают показания на жидкокристаллических (LCD) или светодиодных (LED) дисплеях, использующих </a:t>
            </a:r>
            <a:r>
              <a:rPr b="1" lang="en-US" sz="13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7-сегментный формат</a:t>
            </a: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отображения цифр. Каждая цифра формируется комбинацией из семи сегментов, что создаёт стандартизированную, но в то же время специфическую геометрию символов.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98040" y="2752200"/>
            <a:ext cx="435960" cy="43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2"/>
          <p:cNvSpPr/>
          <p:nvPr/>
        </p:nvSpPr>
        <p:spPr>
          <a:xfrm>
            <a:off x="698040" y="3407040"/>
            <a:ext cx="345276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Геометрия символов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698040" y="3768120"/>
            <a:ext cx="3452760" cy="22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Цифры не имеют физической глубины, но обладают характерным «сегментным» начертанием. Семь сегментов формируют стандартизированную геометрию, однако различие в яркости между активными и неактивными сегментами при слабом контрасте создаёт определённые сложности для распознавания.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369320" y="2752200"/>
            <a:ext cx="435960" cy="43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4"/>
          <p:cNvSpPr/>
          <p:nvPr/>
        </p:nvSpPr>
        <p:spPr>
          <a:xfrm>
            <a:off x="4369320" y="3407040"/>
            <a:ext cx="345276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Динамическая индикация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4369320" y="3768120"/>
            <a:ext cx="3452760" cy="19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Некоторые модели имеют динамическую индикацию: цифры периодически обновляются. В отдельных случаях, при съёмке это может приводить к размытию изображения или к его частичному отображению.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040600" y="2752200"/>
            <a:ext cx="435960" cy="43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6"/>
          <p:cNvSpPr/>
          <p:nvPr/>
        </p:nvSpPr>
        <p:spPr>
          <a:xfrm>
            <a:off x="8040600" y="3407040"/>
            <a:ext cx="345276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Десятичная точка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8040600" y="3768120"/>
            <a:ext cx="3452760" cy="16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Наличие десятичной точки в младшем разряде — отдельный элемент, требующий </a:t>
            </a:r>
            <a:r>
              <a:rPr b="0" lang="ru-RU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учёта</a:t>
            </a: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. Для корректной обработки десятичных значений вводятся отдельные классы для цифр с точкой и без точки, что в итоге даёт 20 классов.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Рисунок 12" descr=""/>
          <p:cNvPicPr/>
          <p:nvPr/>
        </p:nvPicPr>
        <p:blipFill>
          <a:blip r:embed="rId7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698040" y="634320"/>
            <a:ext cx="10795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9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Размеченные датасеты для обучения AMR-моделей</a:t>
            </a:r>
            <a:endParaRPr b="0" lang="ru-RU" sz="2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698040" y="1404000"/>
            <a:ext cx="1079532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Среди размеченных наборов данных, на основе которых можно производить обучение моделей распознавания показаний счётчиков, необходимо выделить следующие ключевые ресурсы: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98040" y="2065680"/>
            <a:ext cx="3499200" cy="313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2"/>
          <p:cNvSpPr/>
          <p:nvPr/>
        </p:nvSpPr>
        <p:spPr>
          <a:xfrm>
            <a:off x="2327040" y="2175120"/>
            <a:ext cx="2408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1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878040" y="2715840"/>
            <a:ext cx="31395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Copel-AMR</a:t>
            </a:r>
            <a:endParaRPr b="0" lang="ru-RU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878040" y="3041280"/>
            <a:ext cx="3139560" cy="19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12 500 изображений</a:t>
            </a: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механических и электронных счётчиков. Содержит </a:t>
            </a:r>
            <a:r>
              <a:rPr b="1" lang="en-US" sz="12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50 000 размеченных цифр</a:t>
            </a: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. Является одним из наиболее полных публичных датасетов для задачи AMR, охватывающим оба основных типа приборов учёта. В датасете принят протокол разметки промежуточных положений для механических счётчиков.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345920" y="2065680"/>
            <a:ext cx="3499200" cy="313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5"/>
          <p:cNvSpPr/>
          <p:nvPr/>
        </p:nvSpPr>
        <p:spPr>
          <a:xfrm>
            <a:off x="5975280" y="2175120"/>
            <a:ext cx="2408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2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4525920" y="2715840"/>
            <a:ext cx="31395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Dig21000</a:t>
            </a:r>
            <a:endParaRPr b="0" lang="ru-RU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4525920" y="3041280"/>
            <a:ext cx="3139560" cy="14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21 000 изображений</a:t>
            </a: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цифровых роторных счётчиков. Охватывает </a:t>
            </a:r>
            <a:r>
              <a:rPr b="1" lang="en-US" sz="12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10 классов цифр</a:t>
            </a: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(0–9). Специализированный датасет, сфокусированный на цифровых приборах учёта с роторным отображением показаний.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993800" y="2065680"/>
            <a:ext cx="3499200" cy="313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8"/>
          <p:cNvSpPr/>
          <p:nvPr/>
        </p:nvSpPr>
        <p:spPr>
          <a:xfrm>
            <a:off x="9623160" y="2175120"/>
            <a:ext cx="2408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3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8173800" y="2715840"/>
            <a:ext cx="31395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Roboflow Universe</a:t>
            </a:r>
            <a:endParaRPr b="0" lang="ru-RU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8173800" y="3041280"/>
            <a:ext cx="3139560" cy="19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Платформа обладает большим количеством датасетов с различными уровнями аннотаций и форматов разметки. Предоставляет доступ к разнообразным коллекциям изображений счётчиков электроэнергии, что особенно ценно при ограниченном объёме реальных размеченных данных.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1"/>
          <p:cNvSpPr/>
          <p:nvPr/>
        </p:nvSpPr>
        <p:spPr>
          <a:xfrm>
            <a:off x="698040" y="5366880"/>
            <a:ext cx="10795320" cy="856440"/>
          </a:xfrm>
          <a:prstGeom prst="roundRect">
            <a:avLst>
              <a:gd name="adj" fmla="val 2817"/>
            </a:avLst>
          </a:prstGeom>
          <a:solidFill>
            <a:srgbClr val="7906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3" descr="preencoded.png"/>
          <p:cNvPicPr/>
          <p:nvPr/>
        </p:nvPicPr>
        <p:blipFill>
          <a:blip r:embed="rId7"/>
          <a:stretch/>
        </p:blipFill>
        <p:spPr>
          <a:xfrm>
            <a:off x="858960" y="5579640"/>
            <a:ext cx="200880" cy="16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12"/>
          <p:cNvSpPr/>
          <p:nvPr/>
        </p:nvSpPr>
        <p:spPr>
          <a:xfrm>
            <a:off x="1220760" y="5555520"/>
            <a:ext cx="1011168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При ограниченном объёме реальных размеченных изображений </a:t>
            </a:r>
            <a:r>
              <a:rPr b="1" lang="en-US" sz="1250" strike="noStrike" u="none">
                <a:solidFill>
                  <a:srgbClr val="ffffff"/>
                </a:solidFill>
                <a:effectLst/>
                <a:uFillTx/>
                <a:latin typeface="Source Sans 3 Bold"/>
                <a:ea typeface="Source Sans 3 Bold"/>
              </a:rPr>
              <a:t>аугментация</a:t>
            </a:r>
            <a:r>
              <a:rPr b="0" lang="en-US" sz="1250" strike="noStrike" u="non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 является важным этапом подготовки данных для обучения надёжных моделей распознавания.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Рисунок 18" descr=""/>
          <p:cNvPicPr/>
          <p:nvPr/>
        </p:nvPicPr>
        <p:blipFill>
          <a:blip r:embed="rId8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698040" y="567000"/>
            <a:ext cx="1079532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30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Многоуровневая разметка данных AMR</a:t>
            </a:r>
            <a:endParaRPr b="0" lang="ru-RU" sz="3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698040" y="1373040"/>
            <a:ext cx="1079532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85000" lnSpcReduction="9999"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Выбор метода разметки данных AMR в значительной степени определён гетерогенностью самих данных, а также спецификой поставленных задач. Для обучения как детектора, так и распознавателя необходима комплексная система аннотаций, охватывающая несколько уровней информации.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0" descr="preencoded.png"/>
          <p:cNvPicPr/>
          <p:nvPr/>
        </p:nvPicPr>
        <p:blipFill>
          <a:blip r:embed="rId1"/>
          <a:stretch/>
        </p:blipFill>
        <p:spPr>
          <a:xfrm>
            <a:off x="698040" y="2071440"/>
            <a:ext cx="5397480" cy="66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2"/>
          <p:cNvSpPr/>
          <p:nvPr/>
        </p:nvSpPr>
        <p:spPr>
          <a:xfrm>
            <a:off x="864360" y="2895480"/>
            <a:ext cx="50648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Детекция экрана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864360" y="3234960"/>
            <a:ext cx="5064840" cy="7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Первый уровень разметки — локализация области дисплея или механического окна счётчика на изображении. Необходим для обучения детектора областей интереса.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1" descr="preencoded.png"/>
          <p:cNvPicPr/>
          <p:nvPr/>
        </p:nvPicPr>
        <p:blipFill>
          <a:blip r:embed="rId2"/>
          <a:stretch/>
        </p:blipFill>
        <p:spPr>
          <a:xfrm>
            <a:off x="6095880" y="2071440"/>
            <a:ext cx="5397480" cy="66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4"/>
          <p:cNvSpPr/>
          <p:nvPr/>
        </p:nvSpPr>
        <p:spPr>
          <a:xfrm>
            <a:off x="6262200" y="2895480"/>
            <a:ext cx="50648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Распознавание цифр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6262200" y="3234960"/>
            <a:ext cx="5064840" cy="7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85000" lnSpcReduction="9999"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Второй уровень — разметка индивидуальных цифр внутри экрана. Классы для цифр с точкой и без точки дают в итоге </a:t>
            </a:r>
            <a:r>
              <a:rPr b="1" lang="en-US" sz="13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20 классов</a:t>
            </a: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, позволяя корректно обрабатывать десятичные значения.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2" descr="preencoded.png"/>
          <p:cNvPicPr/>
          <p:nvPr/>
        </p:nvPicPr>
        <p:blipFill>
          <a:blip r:embed="rId3"/>
          <a:stretch/>
        </p:blipFill>
        <p:spPr>
          <a:xfrm>
            <a:off x="698040" y="4181400"/>
            <a:ext cx="5397480" cy="66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6"/>
          <p:cNvSpPr/>
          <p:nvPr/>
        </p:nvSpPr>
        <p:spPr>
          <a:xfrm>
            <a:off x="864360" y="5005440"/>
            <a:ext cx="50648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Порог уверенности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864360" y="5344920"/>
            <a:ext cx="5064840" cy="7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При уверенности детекции ниже порога (например, </a:t>
            </a:r>
            <a:r>
              <a:rPr b="1" lang="en-US" sz="13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0,40</a:t>
            </a: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) цифра помечается как </a:t>
            </a:r>
            <a:r>
              <a:rPr b="1" lang="en-US" sz="13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uncertain</a:t>
            </a: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и исключается из итогового вывода — политика обработки нечётких цифр.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3" descr="preencoded.png"/>
          <p:cNvPicPr/>
          <p:nvPr/>
        </p:nvPicPr>
        <p:blipFill>
          <a:blip r:embed="rId4"/>
          <a:stretch/>
        </p:blipFill>
        <p:spPr>
          <a:xfrm>
            <a:off x="6095880" y="4181400"/>
            <a:ext cx="5397480" cy="66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8"/>
          <p:cNvSpPr/>
          <p:nvPr/>
        </p:nvSpPr>
        <p:spPr>
          <a:xfrm>
            <a:off x="6262200" y="5005440"/>
            <a:ext cx="50648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Рапознование полуцифр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6262200" y="5344920"/>
            <a:ext cx="5064840" cy="7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Для механических счётчиков требуется разметка  переходных состояний сегметов счётного механизма.  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Рисунок 15" descr=""/>
          <p:cNvPicPr/>
          <p:nvPr/>
        </p:nvPicPr>
        <p:blipFill>
          <a:blip r:embed="rId5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698040" y="503640"/>
            <a:ext cx="1079532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Подготовка данных: обзор процесса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698040" y="1291680"/>
            <a:ext cx="1079532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Подготовка данных для задачи распознавания показаний счётчиков электроэнергии представляет собой многоступенчатый процесс, включающий очистку, предобработку, аннотирование, аугментацию и балансировку классов. Каждый этап направлен на повышение качества обучающей выборки и обеспечение устойчивости модели к реальным условиям эксплуатации.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0" descr="preencoded.png"/>
          <p:cNvPicPr/>
          <p:nvPr/>
        </p:nvPicPr>
        <p:blipFill>
          <a:blip r:embed="rId1"/>
          <a:stretch/>
        </p:blipFill>
        <p:spPr>
          <a:xfrm>
            <a:off x="698040" y="2224800"/>
            <a:ext cx="3598200" cy="65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2"/>
          <p:cNvSpPr/>
          <p:nvPr/>
        </p:nvSpPr>
        <p:spPr>
          <a:xfrm>
            <a:off x="861840" y="3033000"/>
            <a:ext cx="327096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Первичная фильтрация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861840" y="3365280"/>
            <a:ext cx="327096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Удаление непригодных изображений: размытые снимки, дубликаты, неисправные счётчики, низкое разрешение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1" descr="preencoded.png"/>
          <p:cNvPicPr/>
          <p:nvPr/>
        </p:nvPicPr>
        <p:blipFill>
          <a:blip r:embed="rId2"/>
          <a:stretch/>
        </p:blipFill>
        <p:spPr>
          <a:xfrm>
            <a:off x="4296600" y="2224800"/>
            <a:ext cx="3598200" cy="65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4"/>
          <p:cNvSpPr/>
          <p:nvPr/>
        </p:nvSpPr>
        <p:spPr>
          <a:xfrm>
            <a:off x="4460040" y="3033000"/>
            <a:ext cx="327096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Предобработка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4460040" y="3365280"/>
            <a:ext cx="327096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Геометрическая и фотометрическая обработка, извлечение ROI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2" descr="preencoded.png"/>
          <p:cNvPicPr/>
          <p:nvPr/>
        </p:nvPicPr>
        <p:blipFill>
          <a:blip r:embed="rId3"/>
          <a:stretch/>
        </p:blipFill>
        <p:spPr>
          <a:xfrm>
            <a:off x="7895160" y="2224800"/>
            <a:ext cx="3598200" cy="65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6"/>
          <p:cNvSpPr/>
          <p:nvPr/>
        </p:nvSpPr>
        <p:spPr>
          <a:xfrm>
            <a:off x="8058600" y="3033000"/>
            <a:ext cx="327096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Аннотирование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7"/>
          <p:cNvSpPr/>
          <p:nvPr/>
        </p:nvSpPr>
        <p:spPr>
          <a:xfrm>
            <a:off x="8058600" y="3365280"/>
            <a:ext cx="327096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Многоуровневая разметка: экран, цифры, полное показание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Image 3" descr="preencoded.png"/>
          <p:cNvPicPr/>
          <p:nvPr/>
        </p:nvPicPr>
        <p:blipFill>
          <a:blip r:embed="rId4"/>
          <a:stretch/>
        </p:blipFill>
        <p:spPr>
          <a:xfrm>
            <a:off x="698040" y="4289400"/>
            <a:ext cx="3598200" cy="65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8"/>
          <p:cNvSpPr/>
          <p:nvPr/>
        </p:nvSpPr>
        <p:spPr>
          <a:xfrm>
            <a:off x="861840" y="5097600"/>
            <a:ext cx="327096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Аугментация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861840" y="5429880"/>
            <a:ext cx="327096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Геометрические, фотометрические, специализированные и генеративные методы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age 4" descr="preencoded.png"/>
          <p:cNvPicPr/>
          <p:nvPr/>
        </p:nvPicPr>
        <p:blipFill>
          <a:blip r:embed="rId5"/>
          <a:stretch/>
        </p:blipFill>
        <p:spPr>
          <a:xfrm>
            <a:off x="4296600" y="4289400"/>
            <a:ext cx="3598200" cy="65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10"/>
          <p:cNvSpPr/>
          <p:nvPr/>
        </p:nvSpPr>
        <p:spPr>
          <a:xfrm>
            <a:off x="4460040" y="5097600"/>
            <a:ext cx="327096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Балансировка и разделение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1"/>
          <p:cNvSpPr/>
          <p:nvPr/>
        </p:nvSpPr>
        <p:spPr>
          <a:xfrm>
            <a:off x="4460040" y="5429880"/>
            <a:ext cx="327096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Борьба с дисбалансом классов, разделение на train/val/test по meter ID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Рисунок 18" descr=""/>
          <p:cNvPicPr/>
          <p:nvPr/>
        </p:nvPicPr>
        <p:blipFill>
          <a:blip r:embed="rId6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698040" y="565200"/>
            <a:ext cx="1079532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5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Первичная фильтрация и предобработка изображений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"/>
          <p:cNvSpPr/>
          <p:nvPr/>
        </p:nvSpPr>
        <p:spPr>
          <a:xfrm>
            <a:off x="600120" y="1126080"/>
            <a:ext cx="5427360" cy="4388040"/>
          </a:xfrm>
          <a:prstGeom prst="roundRect">
            <a:avLst>
              <a:gd name="adj" fmla="val 466"/>
            </a:avLst>
          </a:prstGeom>
          <a:solidFill>
            <a:srgbClr val="f98a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736200" y="1232640"/>
            <a:ext cx="51548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000000"/>
                </a:solidFill>
                <a:effectLst/>
                <a:uFillTx/>
                <a:latin typeface="Lora"/>
                <a:ea typeface="Lora"/>
              </a:rPr>
              <a:t>Первичная фильтрация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"/>
          <p:cNvSpPr/>
          <p:nvPr/>
        </p:nvSpPr>
        <p:spPr>
          <a:xfrm>
            <a:off x="736200" y="1539360"/>
            <a:ext cx="515484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На этапе первичной фильтрации из исходного набора удаляются изображения, непригодные для обучения: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736200" y="2023560"/>
            <a:ext cx="5154840" cy="166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marL="213480" indent="-213480" defTabSz="914400">
              <a:lnSpc>
                <a:spcPct val="119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0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Нечитаемые снимки: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 сильное размытие, отсутствие счётчика в кадре, критическое перекрытие дисплея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0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Дубликаты: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 выявляются с помощью перцептивных хешей (pHash, dHash) или сравнения гистограмм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0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Неисправные счётчики: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 разбито стекло, отсутствуют цифры — физически невозможно считать показания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0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Низкое разрешение: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 если цифры занимают менее 10–15 пикселей по высоте, распознавание становится неустойчивым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6268320" y="1232640"/>
            <a:ext cx="5231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Геометрическая предобработка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6268320" y="1539360"/>
            <a:ext cx="5231160" cy="14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Единый размер: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приведение к 640×640 пикселей; для OCR-моделей область счёта масштабируется до фиксированной высоты (32 или 48 пикселей) с сохранением пропорций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Perspective Transform: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выпрямление области счёта до прямоугольного вида, если в аннотации указаны четыре угла отсчётного окна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Поворот и выравнивание: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устранение наклона счётчика относительно горизонтали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6268320" y="3079440"/>
            <a:ext cx="5231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Фотометрическая предобработка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6268320" y="3386520"/>
            <a:ext cx="5231160" cy="20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Нормализация: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приведение значений пикселей к [0, 1] или стандартизация по mean/std, вычисленным на обучающей выборке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Подавление бликов: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алгоритмы inpainting или маскирование пересвеченных областей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CLAHE: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Contrast Limited Adaptive Histogram Equalization для улучшения видимости цифр при слабом освещении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Шумоподавление: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медианный фильтр или гауссово размытие для устранения шума сенсора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Цветовое пространство: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для детектора — RGB; для OCR — часто grayscale с бинаризацией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698040" y="5634000"/>
            <a:ext cx="10795320" cy="658440"/>
          </a:xfrm>
          <a:prstGeom prst="roundRect">
            <a:avLst>
              <a:gd name="adj" fmla="val 3105"/>
            </a:avLst>
          </a:prstGeom>
          <a:solidFill>
            <a:srgbClr val="7906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3" name="Image 0" descr="preencoded.png"/>
          <p:cNvPicPr/>
          <p:nvPr/>
        </p:nvPicPr>
        <p:blipFill>
          <a:blip r:embed="rId1"/>
          <a:stretch/>
        </p:blipFill>
        <p:spPr>
          <a:xfrm>
            <a:off x="834480" y="5788440"/>
            <a:ext cx="169920" cy="13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 10"/>
          <p:cNvSpPr/>
          <p:nvPr/>
        </p:nvSpPr>
        <p:spPr>
          <a:xfrm>
            <a:off x="1141200" y="5774400"/>
            <a:ext cx="102157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Извлечение ROI (области интереса) применяется только на этапе обучения OCR-модели: вырезаются области цифр на основе аннотаций. 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Рисунок 13" descr=""/>
          <p:cNvPicPr/>
          <p:nvPr/>
        </p:nvPicPr>
        <p:blipFill>
          <a:blip r:embed="rId2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Image 7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278400" y="1956960"/>
            <a:ext cx="5601600" cy="79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0"/>
          <p:cNvSpPr/>
          <p:nvPr/>
        </p:nvSpPr>
        <p:spPr>
          <a:xfrm>
            <a:off x="698040" y="705240"/>
            <a:ext cx="107953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4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Аннотирование и аугментация данных</a:t>
            </a:r>
            <a:endParaRPr b="0" lang="ru-RU" sz="2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338040" y="1353960"/>
            <a:ext cx="523440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Уровни аннотирования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38040" y="1956600"/>
            <a:ext cx="5781960" cy="79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3"/>
          <p:cNvSpPr/>
          <p:nvPr/>
        </p:nvSpPr>
        <p:spPr>
          <a:xfrm>
            <a:off x="567000" y="2109240"/>
            <a:ext cx="48531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Уровень экрана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567000" y="2408040"/>
            <a:ext cx="48531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Bounding box вокруг всего дисплея или отсчётного окна (класс </a:t>
            </a: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meter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или </a:t>
            </a: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window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)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338040" y="2851560"/>
            <a:ext cx="5781960" cy="11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5"/>
          <p:cNvSpPr/>
          <p:nvPr/>
        </p:nvSpPr>
        <p:spPr>
          <a:xfrm>
            <a:off x="567000" y="3004200"/>
            <a:ext cx="48531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Уровень цифр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567000" y="3303000"/>
            <a:ext cx="48531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Bounding box вокруг каждой отдельной цифры. Классы: </a:t>
            </a: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0–9 без точки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и </a:t>
            </a: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0–9 с точкой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(итого 20 классов). Для аналоговых счётчиков — разметка положения стрелки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2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338040" y="4124160"/>
            <a:ext cx="5781960" cy="98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7"/>
          <p:cNvSpPr/>
          <p:nvPr/>
        </p:nvSpPr>
        <p:spPr>
          <a:xfrm>
            <a:off x="567000" y="4276800"/>
            <a:ext cx="48531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Уровень показания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567000" y="4575600"/>
            <a:ext cx="485316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Полное числовое значение, отображаемое на счётчике — для оценки end-to-end точности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9"/>
          <p:cNvSpPr/>
          <p:nvPr/>
        </p:nvSpPr>
        <p:spPr>
          <a:xfrm>
            <a:off x="338040" y="5220720"/>
            <a:ext cx="5234400" cy="816480"/>
          </a:xfrm>
          <a:prstGeom prst="roundRect">
            <a:avLst>
              <a:gd name="adj" fmla="val 2454"/>
            </a:avLst>
          </a:prstGeom>
          <a:solidFill>
            <a:srgbClr val="7906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9" name="Image 3" descr="preencoded.png"/>
          <p:cNvPicPr/>
          <p:nvPr/>
        </p:nvPicPr>
        <p:blipFill>
          <a:blip r:embed="rId9"/>
          <a:stretch/>
        </p:blipFill>
        <p:spPr>
          <a:xfrm>
            <a:off x="471600" y="537264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Text 10"/>
          <p:cNvSpPr/>
          <p:nvPr/>
        </p:nvSpPr>
        <p:spPr>
          <a:xfrm>
            <a:off x="772200" y="5346000"/>
            <a:ext cx="46666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Если уверенность аннотатора ниже порога (например, 0.40), цифра помечается как </a:t>
            </a:r>
            <a:r>
              <a:rPr b="1" lang="en-US" sz="1050" strike="noStrike" u="none">
                <a:solidFill>
                  <a:srgbClr val="ffffff"/>
                </a:solidFill>
                <a:effectLst/>
                <a:uFillTx/>
                <a:latin typeface="Source Sans 3 Bold"/>
                <a:ea typeface="Source Sans 3 Bold"/>
              </a:rPr>
              <a:t>uncertain</a:t>
            </a: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 и либо исключается из обучения, либо используется с меньшим весом. Это предотвращает обучение на ошибочных данных.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1"/>
          <p:cNvSpPr/>
          <p:nvPr/>
        </p:nvSpPr>
        <p:spPr>
          <a:xfrm>
            <a:off x="6265080" y="1353960"/>
            <a:ext cx="523440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Аугментация данных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6553080" y="2048760"/>
            <a:ext cx="5234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Аугментация применяется </a:t>
            </a: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только к обучающей выборке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. Валидационная и тестовая выборки должны оставаться «чистыми», чтобы оценка отражала реальную производительность.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6265080" y="3534840"/>
            <a:ext cx="5234400" cy="161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marL="213480" indent="-213480" defTabSz="914400">
              <a:lnSpc>
                <a:spcPct val="118000"/>
              </a:lnSpc>
              <a:buClr>
                <a:srgbClr val="d6e5ef"/>
              </a:buClr>
              <a:buFont typeface="Symbol" charset="2"/>
              <a:buChar char=""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Рисунок 19" descr=""/>
          <p:cNvPicPr/>
          <p:nvPr/>
        </p:nvPicPr>
        <p:blipFill>
          <a:blip r:embed="rId10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Image 6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6300000" y="2844000"/>
            <a:ext cx="5580000" cy="227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"/>
          <p:cNvSpPr txBox="1"/>
          <p:nvPr/>
        </p:nvSpPr>
        <p:spPr>
          <a:xfrm>
            <a:off x="6480000" y="3057120"/>
            <a:ext cx="4860000" cy="171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Геометрические: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повороты, масштабирование, отражения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Фотометрические: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изменение яркости, контраста, насыщенности, добавление гауссова шума, размытие, HSV-сдвиги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Специализированные: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Mosaic (объединение 4 изображений в одно), MixUp (линейная интерполяция двух изображений), CopyPaste (вставка цифр из одного изображения в другое)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Генеративные: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синтез изображений с помощью GAN или диффузионных моделей для редких условий (сильная запылённость, низкое освещение)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698040" y="543240"/>
            <a:ext cx="1079532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5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Балансировка классов и разделение датасета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698040" y="1210320"/>
            <a:ext cx="5231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Балансировка классов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698040" y="1517400"/>
            <a:ext cx="523116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Распределение цифр в датасетах неравномерно: цифра «0» встречается значительно чаще остальных. Для борьбы с дисбалансом применяются следующие методы: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698040" y="2025720"/>
            <a:ext cx="2562120" cy="967680"/>
          </a:xfrm>
          <a:prstGeom prst="roundRect">
            <a:avLst>
              <a:gd name="adj" fmla="val 2113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834480" y="2161800"/>
            <a:ext cx="2289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Взвешивание потерь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834480" y="2468880"/>
            <a:ext cx="228960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Классам с меньшей частотой присваивается больший вес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6"/>
          <p:cNvSpPr/>
          <p:nvPr/>
        </p:nvSpPr>
        <p:spPr>
          <a:xfrm>
            <a:off x="3367080" y="2025720"/>
            <a:ext cx="2562120" cy="967680"/>
          </a:xfrm>
          <a:prstGeom prst="roundRect">
            <a:avLst>
              <a:gd name="adj" fmla="val 2113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7"/>
          <p:cNvSpPr/>
          <p:nvPr/>
        </p:nvSpPr>
        <p:spPr>
          <a:xfrm>
            <a:off x="3503160" y="2161800"/>
            <a:ext cx="2289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Focal Loss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8"/>
          <p:cNvSpPr/>
          <p:nvPr/>
        </p:nvSpPr>
        <p:spPr>
          <a:xfrm>
            <a:off x="3503160" y="2468880"/>
            <a:ext cx="228960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Снижает вклад легко классифицируемых примеров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9"/>
          <p:cNvSpPr/>
          <p:nvPr/>
        </p:nvSpPr>
        <p:spPr>
          <a:xfrm>
            <a:off x="698040" y="3099960"/>
            <a:ext cx="2562120" cy="967680"/>
          </a:xfrm>
          <a:prstGeom prst="roundRect">
            <a:avLst>
              <a:gd name="adj" fmla="val 2113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0"/>
          <p:cNvSpPr/>
          <p:nvPr/>
        </p:nvSpPr>
        <p:spPr>
          <a:xfrm>
            <a:off x="834480" y="3236400"/>
            <a:ext cx="2289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Оверсэмплинг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834480" y="3543480"/>
            <a:ext cx="228960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Дублирование изображений с редкими цифрами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2"/>
          <p:cNvSpPr/>
          <p:nvPr/>
        </p:nvSpPr>
        <p:spPr>
          <a:xfrm>
            <a:off x="3367080" y="3099960"/>
            <a:ext cx="2562120" cy="967680"/>
          </a:xfrm>
          <a:prstGeom prst="roundRect">
            <a:avLst>
              <a:gd name="adj" fmla="val 2113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3"/>
          <p:cNvSpPr/>
          <p:nvPr/>
        </p:nvSpPr>
        <p:spPr>
          <a:xfrm>
            <a:off x="3503160" y="3236400"/>
            <a:ext cx="2289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Синтетические цифры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4"/>
          <p:cNvSpPr/>
          <p:nvPr/>
        </p:nvSpPr>
        <p:spPr>
          <a:xfrm>
            <a:off x="3503160" y="3543480"/>
            <a:ext cx="228960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Генерация с помощью аугментации или генеративных моделей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5"/>
          <p:cNvSpPr/>
          <p:nvPr/>
        </p:nvSpPr>
        <p:spPr>
          <a:xfrm>
            <a:off x="6268320" y="1210320"/>
            <a:ext cx="5231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Разделение на train / val / test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6"/>
          <p:cNvSpPr/>
          <p:nvPr/>
        </p:nvSpPr>
        <p:spPr>
          <a:xfrm>
            <a:off x="6268320" y="1517400"/>
            <a:ext cx="5231160" cy="17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19999"/>
          </a:bodyPr>
          <a:p>
            <a:pPr defTabSz="914400">
              <a:lnSpc>
                <a:spcPct val="119000"/>
              </a:lnSpc>
              <a:spcAft>
                <a:spcPts val="751"/>
              </a:spcAft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Ключевое требование — </a:t>
            </a: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предотвращение утечки данных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: изображения одного и того же счётчика не должны одновременно попадать в обучающую и тестовую выборки. Иначе модель может запомнить признаки конкретного прибора учёта, в следставии чего способность к обощению при инференсе будет не соизмеримо ниже чем при обучении либо тестировании модели.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9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Результат утечки — переоценка качества модели и искажение её работы на новых реальных данных.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Разделение выполняется </a:t>
            </a: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на уровне идентификаторов счётчиков (meter ID)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или локаций. Если meter ID отсутствует, используется группировка по визуальной похожести (кластеризация эмбеддингов) или по хешу изображения.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7"/>
          <p:cNvSpPr/>
          <p:nvPr/>
        </p:nvSpPr>
        <p:spPr>
          <a:xfrm>
            <a:off x="6268320" y="3308400"/>
            <a:ext cx="5231160" cy="1741320"/>
          </a:xfrm>
          <a:prstGeom prst="roundRect">
            <a:avLst>
              <a:gd name="adj" fmla="val 1174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8"/>
          <p:cNvSpPr/>
          <p:nvPr/>
        </p:nvSpPr>
        <p:spPr>
          <a:xfrm>
            <a:off x="6268320" y="3308400"/>
            <a:ext cx="2615400" cy="967680"/>
          </a:xfrm>
          <a:custGeom>
            <a:avLst/>
            <a:gdLst>
              <a:gd name="textAreaLeft" fmla="*/ 0 w 2615400"/>
              <a:gd name="textAreaRight" fmla="*/ 2615760 w 261540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2615738" h="967978">
                <a:moveTo>
                  <a:pt x="17045" y="0"/>
                </a:moveTo>
                <a:lnTo>
                  <a:pt x="2615738" y="0"/>
                </a:lnTo>
                <a:lnTo>
                  <a:pt x="2615738" y="967978"/>
                </a:lnTo>
                <a:lnTo>
                  <a:pt x="0" y="967978"/>
                </a:lnTo>
                <a:lnTo>
                  <a:pt x="0" y="17046"/>
                </a:lnTo>
                <a:arcTo wR="17045" hR="17046" stAng="10800000" swAng="5400000"/>
                <a:close/>
              </a:path>
            </a:pathLst>
          </a:cu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9"/>
          <p:cNvSpPr/>
          <p:nvPr/>
        </p:nvSpPr>
        <p:spPr>
          <a:xfrm>
            <a:off x="6404760" y="3444480"/>
            <a:ext cx="2342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Train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0"/>
          <p:cNvSpPr/>
          <p:nvPr/>
        </p:nvSpPr>
        <p:spPr>
          <a:xfrm>
            <a:off x="6404760" y="3751560"/>
            <a:ext cx="2342880" cy="1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70–80% — обучение модели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1"/>
          <p:cNvSpPr/>
          <p:nvPr/>
        </p:nvSpPr>
        <p:spPr>
          <a:xfrm>
            <a:off x="8884080" y="3308400"/>
            <a:ext cx="2615400" cy="967680"/>
          </a:xfrm>
          <a:custGeom>
            <a:avLst/>
            <a:gdLst>
              <a:gd name="textAreaLeft" fmla="*/ 0 w 2615400"/>
              <a:gd name="textAreaRight" fmla="*/ 2615760 w 261540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2615738" h="967978">
                <a:moveTo>
                  <a:pt x="0" y="0"/>
                </a:moveTo>
                <a:lnTo>
                  <a:pt x="2598692" y="0"/>
                </a:lnTo>
                <a:arcTo wR="17045" hR="17046" stAng="16200000" swAng="5400000"/>
                <a:lnTo>
                  <a:pt x="2615738" y="967978"/>
                </a:lnTo>
                <a:lnTo>
                  <a:pt x="0" y="967978"/>
                </a:lnTo>
                <a:lnTo>
                  <a:pt x="0" y="0"/>
                </a:lnTo>
                <a:close/>
              </a:path>
            </a:pathLst>
          </a:cu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2"/>
          <p:cNvSpPr/>
          <p:nvPr/>
        </p:nvSpPr>
        <p:spPr>
          <a:xfrm>
            <a:off x="8884080" y="3308400"/>
            <a:ext cx="18720" cy="96768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3"/>
          <p:cNvSpPr/>
          <p:nvPr/>
        </p:nvSpPr>
        <p:spPr>
          <a:xfrm>
            <a:off x="9020520" y="3444480"/>
            <a:ext cx="2342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Val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4"/>
          <p:cNvSpPr/>
          <p:nvPr/>
        </p:nvSpPr>
        <p:spPr>
          <a:xfrm>
            <a:off x="9020520" y="3751560"/>
            <a:ext cx="234288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10–15% — настройка гиперпараметров, early stopping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5"/>
          <p:cNvSpPr/>
          <p:nvPr/>
        </p:nvSpPr>
        <p:spPr>
          <a:xfrm>
            <a:off x="6268320" y="4276080"/>
            <a:ext cx="5231160" cy="773280"/>
          </a:xfrm>
          <a:custGeom>
            <a:avLst/>
            <a:gdLst>
              <a:gd name="textAreaLeft" fmla="*/ 0 w 5231160"/>
              <a:gd name="textAreaRight" fmla="*/ 5231520 w 5231160"/>
              <a:gd name="textAreaTop" fmla="*/ 0 h 773280"/>
              <a:gd name="textAreaBottom" fmla="*/ 773640 h 773280"/>
            </a:gdLst>
            <a:ahLst/>
            <a:cxnLst/>
            <a:rect l="textAreaLeft" t="textAreaTop" r="textAreaRight" b="textAreaBottom"/>
            <a:pathLst>
              <a:path w="5231475" h="773807">
                <a:moveTo>
                  <a:pt x="0" y="0"/>
                </a:moveTo>
                <a:lnTo>
                  <a:pt x="5231475" y="0"/>
                </a:lnTo>
                <a:lnTo>
                  <a:pt x="5231475" y="756761"/>
                </a:lnTo>
                <a:arcTo wR="17045" hR="17046" stAng="0" swAng="5400000"/>
                <a:lnTo>
                  <a:pt x="17045" y="773807"/>
                </a:lnTo>
                <a:arcTo wR="17045" hR="17046" stAng="5400000" swAng="5400000"/>
                <a:lnTo>
                  <a:pt x="0" y="0"/>
                </a:lnTo>
                <a:close/>
              </a:path>
            </a:pathLst>
          </a:cu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6"/>
          <p:cNvSpPr/>
          <p:nvPr/>
        </p:nvSpPr>
        <p:spPr>
          <a:xfrm>
            <a:off x="6268320" y="4276080"/>
            <a:ext cx="5231160" cy="1872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7"/>
          <p:cNvSpPr/>
          <p:nvPr/>
        </p:nvSpPr>
        <p:spPr>
          <a:xfrm>
            <a:off x="6404760" y="4412520"/>
            <a:ext cx="49586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Test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8"/>
          <p:cNvSpPr/>
          <p:nvPr/>
        </p:nvSpPr>
        <p:spPr>
          <a:xfrm>
            <a:off x="6404760" y="4719600"/>
            <a:ext cx="4958640" cy="1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10–20% — финальная оценка, используется один раз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9"/>
          <p:cNvSpPr/>
          <p:nvPr/>
        </p:nvSpPr>
        <p:spPr>
          <a:xfrm>
            <a:off x="698040" y="5073480"/>
            <a:ext cx="10795320" cy="1240920"/>
          </a:xfrm>
          <a:prstGeom prst="roundRect">
            <a:avLst>
              <a:gd name="adj" fmla="val 1648"/>
            </a:avLst>
          </a:prstGeom>
          <a:solidFill>
            <a:srgbClr val="7906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Image 0" descr="preencoded.png"/>
          <p:cNvPicPr/>
          <p:nvPr/>
        </p:nvPicPr>
        <p:blipFill>
          <a:blip r:embed="rId1"/>
          <a:stretch/>
        </p:blipFill>
        <p:spPr>
          <a:xfrm>
            <a:off x="834480" y="5227920"/>
            <a:ext cx="169920" cy="13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 30"/>
          <p:cNvSpPr/>
          <p:nvPr/>
        </p:nvSpPr>
        <p:spPr>
          <a:xfrm>
            <a:off x="1141200" y="5213880"/>
            <a:ext cx="10215720" cy="9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Для сохранения распределения классов и условий съёмки применяется </a:t>
            </a:r>
            <a:r>
              <a:rPr b="1" lang="en-US" sz="1050" strike="noStrike" u="none">
                <a:solidFill>
                  <a:srgbClr val="ffffff"/>
                </a:solidFill>
                <a:effectLst/>
                <a:uFillTx/>
                <a:latin typeface="Source Sans 3 Bold"/>
                <a:ea typeface="Source Sans 3 Bold"/>
              </a:rPr>
              <a:t>стратифицированное разделение</a:t>
            </a: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: по типу счётчика (цифровой, механический), по условиям освещения (день/ночь, блики, запылённость), по частоте встречаемости цифр. При наличии временных меток — </a:t>
            </a:r>
            <a:r>
              <a:rPr b="1" lang="en-US" sz="1050" strike="noStrike" u="none">
                <a:solidFill>
                  <a:srgbClr val="ffffff"/>
                </a:solidFill>
                <a:effectLst/>
                <a:uFillTx/>
                <a:latin typeface="Source Sans 3 Bold"/>
                <a:ea typeface="Source Sans 3 Bold"/>
              </a:rPr>
              <a:t>хронологическое разделение</a:t>
            </a: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 Для двухэтапного пайплайна: детектор — разделение на уровне изображений с группировкой по meter ID; OCR — на уровне вырезанных цифр с сохранением группировки; end-to-end — на уровне meter ID. 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Рисунок 33" descr=""/>
          <p:cNvPicPr/>
          <p:nvPr/>
        </p:nvPicPr>
        <p:blipFill>
          <a:blip r:embed="rId2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45716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Text 0"/>
          <p:cNvSpPr/>
          <p:nvPr/>
        </p:nvSpPr>
        <p:spPr>
          <a:xfrm>
            <a:off x="5270040" y="542520"/>
            <a:ext cx="6223320" cy="81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5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Существующие решения AMR: классификация подходов</a:t>
            </a:r>
            <a:endParaRPr b="0" lang="ru-RU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5270040" y="1526760"/>
            <a:ext cx="62233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Все существующие решения задачи автоматического считывания показаний можно разделить на три принципиально разных класса, различающихся по степени интеграции компонентов и способу обработки изображения.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"/>
          <p:cNvSpPr/>
          <p:nvPr/>
        </p:nvSpPr>
        <p:spPr>
          <a:xfrm>
            <a:off x="5270040" y="2251440"/>
            <a:ext cx="3056040" cy="2476080"/>
          </a:xfrm>
          <a:prstGeom prst="roundRect">
            <a:avLst>
              <a:gd name="adj" fmla="val 842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3"/>
          <p:cNvSpPr/>
          <p:nvPr/>
        </p:nvSpPr>
        <p:spPr>
          <a:xfrm>
            <a:off x="5409000" y="2390400"/>
            <a:ext cx="416880" cy="416880"/>
          </a:xfrm>
          <a:prstGeom prst="ellipse">
            <a:avLst/>
          </a:prstGeom>
          <a:solidFill>
            <a:srgbClr val="6eb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5523840" y="2481480"/>
            <a:ext cx="1872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000000"/>
                </a:solidFill>
                <a:effectLst/>
                <a:uFillTx/>
                <a:latin typeface="Lora"/>
                <a:ea typeface="Lora"/>
              </a:rPr>
              <a:t>1</a:t>
            </a:r>
            <a:endParaRPr b="0" lang="ru-RU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5409000" y="2918160"/>
            <a:ext cx="277812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Двухэтапные пайплайны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6"/>
          <p:cNvSpPr/>
          <p:nvPr/>
        </p:nvSpPr>
        <p:spPr>
          <a:xfrm>
            <a:off x="5409000" y="3189240"/>
            <a:ext cx="2778120" cy="9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Детекция + распознавание как независимые задачи. Наиболее распространённый и хорошо изученный подход. Модульность, простота отладки, но накопление ошибок и более высокое время инференса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7"/>
          <p:cNvSpPr/>
          <p:nvPr/>
        </p:nvSpPr>
        <p:spPr>
          <a:xfrm>
            <a:off x="8437320" y="2251440"/>
            <a:ext cx="3056040" cy="2476080"/>
          </a:xfrm>
          <a:prstGeom prst="roundRect">
            <a:avLst>
              <a:gd name="adj" fmla="val 842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8"/>
          <p:cNvSpPr/>
          <p:nvPr/>
        </p:nvSpPr>
        <p:spPr>
          <a:xfrm>
            <a:off x="8576280" y="2390400"/>
            <a:ext cx="416880" cy="416880"/>
          </a:xfrm>
          <a:prstGeom prst="ellipse">
            <a:avLst/>
          </a:prstGeom>
          <a:solidFill>
            <a:srgbClr val="6eb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9"/>
          <p:cNvSpPr/>
          <p:nvPr/>
        </p:nvSpPr>
        <p:spPr>
          <a:xfrm>
            <a:off x="8690760" y="2481480"/>
            <a:ext cx="1872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000000"/>
                </a:solidFill>
                <a:effectLst/>
                <a:uFillTx/>
                <a:latin typeface="Lora"/>
                <a:ea typeface="Lora"/>
              </a:rPr>
              <a:t>2</a:t>
            </a:r>
            <a:endParaRPr b="0" lang="ru-RU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0"/>
          <p:cNvSpPr/>
          <p:nvPr/>
        </p:nvSpPr>
        <p:spPr>
          <a:xfrm>
            <a:off x="8576280" y="2918160"/>
            <a:ext cx="277812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End-to-end архитектуры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1"/>
          <p:cNvSpPr/>
          <p:nvPr/>
        </p:nvSpPr>
        <p:spPr>
          <a:xfrm>
            <a:off x="8576280" y="3189240"/>
            <a:ext cx="2778120" cy="13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Единая нейросетевая архитектура, оптимизируемая сквозным образом. Сквозная оптимизация, компактность, потенциально более высокая точность. Недостатки: сложность отладки, потребность в больших ресурсах, ограниченная интерпретируемость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2"/>
          <p:cNvSpPr/>
          <p:nvPr/>
        </p:nvSpPr>
        <p:spPr>
          <a:xfrm>
            <a:off x="5270040" y="4838760"/>
            <a:ext cx="6223320" cy="1476360"/>
          </a:xfrm>
          <a:prstGeom prst="roundRect">
            <a:avLst>
              <a:gd name="adj" fmla="val 1413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3"/>
          <p:cNvSpPr/>
          <p:nvPr/>
        </p:nvSpPr>
        <p:spPr>
          <a:xfrm>
            <a:off x="5409000" y="4977720"/>
            <a:ext cx="416880" cy="416880"/>
          </a:xfrm>
          <a:prstGeom prst="ellipse">
            <a:avLst/>
          </a:prstGeom>
          <a:solidFill>
            <a:srgbClr val="6eb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4"/>
          <p:cNvSpPr/>
          <p:nvPr/>
        </p:nvSpPr>
        <p:spPr>
          <a:xfrm>
            <a:off x="5523840" y="5068800"/>
            <a:ext cx="1872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000000"/>
                </a:solidFill>
                <a:effectLst/>
                <a:uFillTx/>
                <a:latin typeface="Lora"/>
                <a:ea typeface="Lora"/>
              </a:rPr>
              <a:t>3</a:t>
            </a:r>
            <a:endParaRPr b="0" lang="ru-RU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5"/>
          <p:cNvSpPr/>
          <p:nvPr/>
        </p:nvSpPr>
        <p:spPr>
          <a:xfrm>
            <a:off x="5409000" y="5505480"/>
            <a:ext cx="594540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Специализированные методы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6"/>
          <p:cNvSpPr/>
          <p:nvPr/>
        </p:nvSpPr>
        <p:spPr>
          <a:xfrm>
            <a:off x="5409000" y="5776560"/>
            <a:ext cx="59454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Решения для отдельных типов счётчиков: механических, 7-сегментных, аналоговых стрелочных. Высокая точность в узкой области применения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8" name="Рисунок 19" descr=""/>
          <p:cNvPicPr/>
          <p:nvPr/>
        </p:nvPicPr>
        <p:blipFill>
          <a:blip r:embed="rId2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698040" y="515160"/>
            <a:ext cx="1079532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7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Двухэтапные пайплайны: детекция + распознавание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698040" y="1197000"/>
            <a:ext cx="1079532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19999"/>
          </a:bodyPr>
          <a:p>
            <a:pPr defTabSz="914400">
              <a:lnSpc>
                <a:spcPct val="123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Наиболее распространённый и хорошо изученный подход. Система последовательно решает две независимые задачи: сначала детектирует область счёта на изображении, затем распознаёт символы внутри найденной области.</a:t>
            </a:r>
            <a:endParaRPr b="0" lang="ru-RU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1" name="Table 0"/>
          <p:cNvGraphicFramePr/>
          <p:nvPr/>
        </p:nvGraphicFramePr>
        <p:xfrm>
          <a:off x="698040" y="1770840"/>
          <a:ext cx="10795320" cy="3181680"/>
        </p:xfrm>
        <a:graphic>
          <a:graphicData uri="http://schemas.openxmlformats.org/drawingml/2006/table">
            <a:tbl>
              <a:tblPr/>
              <a:tblGrid>
                <a:gridCol w="3022560"/>
                <a:gridCol w="3886200"/>
                <a:gridCol w="3886200"/>
              </a:tblGrid>
              <a:tr h="381960"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Решение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Детектор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Распознаватель / Особенности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601920"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YOLOv5 + PP-OCRv3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YOLOv5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PP-OCRv3; пороговая фильтрация пикселей для подсветки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601920"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YOLOv8 + PP-OCRv3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YOLOv8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Более современная архитектура детектора, высокая точность и робастность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384840"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YOLO + CRNN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YOLOv5s (polygon-модификация)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CRNN с CTC-декодированием; точность </a:t>
                      </a:r>
                      <a:r>
                        <a:rPr b="1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&gt;98%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601920"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DETR + EasyOCR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DETR (трансформер)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EasyOCR; mAP </a:t>
                      </a:r>
                      <a:r>
                        <a:rPr b="1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96,83%</a:t>
                      </a:r>
                      <a:r>
                        <a:rPr b="0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; глобальное моделирование зависимостей, высокая вычислительная сложность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599040"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YOLOv10 + каскадная обработка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YOLOv10n + RCSOSA + SimAM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47240" rIns="1472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Каскадная визуально-семантическая обработка; precision </a:t>
                      </a:r>
                      <a:r>
                        <a:rPr b="1" lang="en-US" sz="115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0,870</a:t>
                      </a:r>
                      <a:endParaRPr b="0" lang="ru-RU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47240" marR="1472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</a:tbl>
          </a:graphicData>
        </a:graphic>
      </p:graphicFrame>
      <p:sp>
        <p:nvSpPr>
          <p:cNvPr id="232" name="Shape 2"/>
          <p:cNvSpPr/>
          <p:nvPr/>
        </p:nvSpPr>
        <p:spPr>
          <a:xfrm>
            <a:off x="592200" y="5096160"/>
            <a:ext cx="5429880" cy="1246320"/>
          </a:xfrm>
          <a:prstGeom prst="roundRect">
            <a:avLst>
              <a:gd name="adj" fmla="val 1772"/>
            </a:avLst>
          </a:prstGeom>
          <a:solidFill>
            <a:srgbClr val="f98a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"/>
          <p:cNvSpPr/>
          <p:nvPr/>
        </p:nvSpPr>
        <p:spPr>
          <a:xfrm>
            <a:off x="739440" y="5220360"/>
            <a:ext cx="5135400" cy="2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Lora"/>
                <a:ea typeface="Lora"/>
              </a:rPr>
              <a:t>Преимущества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4"/>
          <p:cNvSpPr/>
          <p:nvPr/>
        </p:nvSpPr>
        <p:spPr>
          <a:xfrm>
            <a:off x="739440" y="5561280"/>
            <a:ext cx="51354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19999"/>
          </a:bodyPr>
          <a:p>
            <a:pPr marL="233640" indent="-233640" defTabSz="914400">
              <a:lnSpc>
                <a:spcPct val="123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Модульность: независимая замена и оптимизация каждого компонента</a:t>
            </a:r>
            <a:endParaRPr b="0" lang="ru-RU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3640" indent="-233640" defTabSz="914400">
              <a:lnSpc>
                <a:spcPct val="123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Возможность использования готовых предобученных моделей</a:t>
            </a:r>
            <a:endParaRPr b="0" lang="ru-RU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3640" indent="-233640" defTabSz="914400">
              <a:lnSpc>
                <a:spcPct val="123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Простота отладки и интерпретации результатов</a:t>
            </a:r>
            <a:endParaRPr b="0" lang="ru-RU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6281640" y="5220360"/>
            <a:ext cx="5217840" cy="2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Недостатки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6281640" y="5561280"/>
            <a:ext cx="521784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19999"/>
          </a:bodyPr>
          <a:p>
            <a:pPr marL="233640" indent="-233640" defTabSz="914400">
              <a:lnSpc>
                <a:spcPct val="123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Накопление ошибок: ошибка детекции приводит к ошибке распознавания</a:t>
            </a:r>
            <a:endParaRPr b="0" lang="ru-RU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3640" indent="-233640" defTabSz="914400">
              <a:lnSpc>
                <a:spcPct val="123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Необходимость обучения двух моделей</a:t>
            </a:r>
            <a:endParaRPr b="0" lang="ru-RU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3640" indent="-233640" defTabSz="914400">
              <a:lnSpc>
                <a:spcPct val="123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Более высокое суммарное время инференса</a:t>
            </a:r>
            <a:endParaRPr b="0" lang="ru-RU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Рисунок 9" descr=""/>
          <p:cNvPicPr/>
          <p:nvPr/>
        </p:nvPicPr>
        <p:blipFill>
          <a:blip r:embed="rId1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0"/>
          <p:cNvSpPr/>
          <p:nvPr/>
        </p:nvSpPr>
        <p:spPr>
          <a:xfrm>
            <a:off x="698040" y="603360"/>
            <a:ext cx="1079532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End-to-end архитектуры и специализированные методы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698040" y="1162440"/>
            <a:ext cx="525096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End-to-end решения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698040" y="1421280"/>
            <a:ext cx="52509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Объединяют детекцию и распознавание в единую нейросетевую архитектуру, оптимизируемую сквозным образом.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98040" y="1837800"/>
            <a:ext cx="5250960" cy="13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Text 3"/>
          <p:cNvSpPr/>
          <p:nvPr/>
        </p:nvSpPr>
        <p:spPr>
          <a:xfrm>
            <a:off x="830880" y="2292840"/>
            <a:ext cx="49856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EDPNet (2025)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830880" y="2551680"/>
            <a:ext cx="498564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EDNet (детекция) + EPNet (распознавание). EDNet использует EfficientNetV2-s с MSKA и EMA. </a:t>
            </a:r>
            <a:r>
              <a:rPr b="1" lang="en-US" sz="9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F1 = 0,997988</a:t>
            </a:r>
            <a:r>
              <a:rPr b="0" lang="en-US" sz="9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(превосходит DBNet++ на 0,61%), EPNet — </a:t>
            </a:r>
            <a:r>
              <a:rPr b="1" lang="en-US" sz="9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90,0% точности</a:t>
            </a:r>
            <a:r>
              <a:rPr b="0" lang="en-US" sz="9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. В сложных сценариях превосходит современные методы на 0,7–1,9% при снижении числа параметров на 20,03%.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4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98040" y="3252600"/>
            <a:ext cx="5250960" cy="149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Text 5"/>
          <p:cNvSpPr/>
          <p:nvPr/>
        </p:nvSpPr>
        <p:spPr>
          <a:xfrm>
            <a:off x="830880" y="3707640"/>
            <a:ext cx="49856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LVLM-подход (Electricity-Meter-OCR-7B)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6"/>
          <p:cNvSpPr/>
          <p:nvPr/>
        </p:nvSpPr>
        <p:spPr>
          <a:xfrm>
            <a:off x="830880" y="3966840"/>
            <a:ext cx="49856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Задача AMR как прямая генерация текста. Large Vision-Language Model (ViT + языковая модель) принимает изображение счётчика и выдаёт числовое показание (например, «8430.6»). Преимущество — отсутствие промежуточной детекции; недостаток — высокая вычислительная сложность и потребность в больших объёмах данных для fine-tuning.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98040" y="4829400"/>
            <a:ext cx="5250960" cy="13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 7"/>
          <p:cNvSpPr/>
          <p:nvPr/>
        </p:nvSpPr>
        <p:spPr>
          <a:xfrm>
            <a:off x="830880" y="5284440"/>
            <a:ext cx="49856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TransMeter (YOLO + CogVLM2)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830880" y="5543280"/>
            <a:ext cx="498564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Гибридный подход для механических счётчиков воды: YOLOv11n для детекции сегментов с цифрами, CogVLM2 (визуально-языковая модель) для тонкого анализа промежуточных состояний символов.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9"/>
          <p:cNvSpPr/>
          <p:nvPr/>
        </p:nvSpPr>
        <p:spPr>
          <a:xfrm>
            <a:off x="6248520" y="1162440"/>
            <a:ext cx="525096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Специализированные методы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1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248520" y="1431360"/>
            <a:ext cx="5250960" cy="100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 10"/>
          <p:cNvSpPr/>
          <p:nvPr/>
        </p:nvSpPr>
        <p:spPr>
          <a:xfrm>
            <a:off x="6432120" y="1564200"/>
            <a:ext cx="49348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Механические счётчики (роликовая шкала)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1"/>
          <p:cNvSpPr/>
          <p:nvPr/>
        </p:nvSpPr>
        <p:spPr>
          <a:xfrm>
            <a:off x="6432120" y="1823040"/>
            <a:ext cx="493488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Метод скользящего окна с регрессией: декодирование по максимальной и средней вероятности + регрессионная прогнозная модель по историческим данным. Точность </a:t>
            </a:r>
            <a:r>
              <a:rPr b="1" lang="en-US" sz="9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99,57%</a:t>
            </a:r>
            <a:r>
              <a:rPr b="0" lang="en-US" sz="9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, максимальная ошибка снижена с 68,5 до 1,06, MAE и MSE улучшены почти в 20 раз.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248520" y="2523960"/>
            <a:ext cx="5250960" cy="84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 12"/>
          <p:cNvSpPr/>
          <p:nvPr/>
        </p:nvSpPr>
        <p:spPr>
          <a:xfrm>
            <a:off x="6432120" y="2656440"/>
            <a:ext cx="49348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Цифровые 7-сегментные счётчики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3"/>
          <p:cNvSpPr/>
          <p:nvPr/>
        </p:nvSpPr>
        <p:spPr>
          <a:xfrm>
            <a:off x="6432120" y="2915280"/>
            <a:ext cx="49348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Метод сопоставления с образцами. Точность распознавания </a:t>
            </a:r>
            <a:r>
              <a:rPr b="1" lang="en-US" sz="9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98,2%</a:t>
            </a:r>
            <a:r>
              <a:rPr b="0" lang="en-US" sz="9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в сложных условиях — на </a:t>
            </a:r>
            <a:r>
              <a:rPr b="1" lang="en-US" sz="9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23,6%</a:t>
            </a:r>
            <a:r>
              <a:rPr b="0" lang="en-US" sz="9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лучше традиционного OCR-метода.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Image 5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6248520" y="3454560"/>
            <a:ext cx="5250960" cy="84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 14"/>
          <p:cNvSpPr/>
          <p:nvPr/>
        </p:nvSpPr>
        <p:spPr>
          <a:xfrm>
            <a:off x="6432120" y="3587040"/>
            <a:ext cx="49348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PriKMet — аналоговые стрелочные счётчики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5"/>
          <p:cNvSpPr/>
          <p:nvPr/>
        </p:nvSpPr>
        <p:spPr>
          <a:xfrm>
            <a:off x="6432120" y="3845880"/>
            <a:ext cx="49348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99,4% AP50</a:t>
            </a:r>
            <a:r>
              <a:rPr b="0" lang="en-US" sz="9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при детекции и </a:t>
            </a:r>
            <a:r>
              <a:rPr b="1" lang="en-US" sz="9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85,5%</a:t>
            </a:r>
            <a:r>
              <a:rPr b="0" lang="en-US" sz="9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точности считывания на датасете из 3 237 изображений подстанций.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Рисунок 23" descr=""/>
          <p:cNvPicPr/>
          <p:nvPr/>
        </p:nvPicPr>
        <p:blipFill>
          <a:blip r:embed="rId13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 0"/>
          <p:cNvSpPr/>
          <p:nvPr/>
        </p:nvSpPr>
        <p:spPr>
          <a:xfrm>
            <a:off x="698040" y="540000"/>
            <a:ext cx="1079532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5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Обоснование выбора архитектуры: YOLOv8n + PP-OCRv3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"/>
          <p:cNvSpPr/>
          <p:nvPr/>
        </p:nvSpPr>
        <p:spPr>
          <a:xfrm>
            <a:off x="698040" y="1153800"/>
            <a:ext cx="10795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На основе проведённого анализа, в качестве базовой архитектуры выбрана двухэтапная схема «YOLO + PP-OCRv3» с интеграцией модуля постобработки и валидации по историческим данным.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"/>
          <p:cNvSpPr/>
          <p:nvPr/>
        </p:nvSpPr>
        <p:spPr>
          <a:xfrm>
            <a:off x="600120" y="1662120"/>
            <a:ext cx="5427360" cy="3683160"/>
          </a:xfrm>
          <a:prstGeom prst="roundRect">
            <a:avLst>
              <a:gd name="adj" fmla="val 555"/>
            </a:avLst>
          </a:prstGeom>
          <a:solidFill>
            <a:srgbClr val="f98a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3"/>
          <p:cNvSpPr/>
          <p:nvPr/>
        </p:nvSpPr>
        <p:spPr>
          <a:xfrm>
            <a:off x="736200" y="1768320"/>
            <a:ext cx="51548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000000"/>
                </a:solidFill>
                <a:effectLst/>
                <a:uFillTx/>
                <a:latin typeface="Lora"/>
                <a:ea typeface="Lora"/>
              </a:rPr>
              <a:t>Факторы выбора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4"/>
          <p:cNvSpPr/>
          <p:nvPr/>
        </p:nvSpPr>
        <p:spPr>
          <a:xfrm>
            <a:off x="736200" y="2075400"/>
            <a:ext cx="5154840" cy="18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marL="213480" indent="-213480" defTabSz="914400">
              <a:lnSpc>
                <a:spcPct val="119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0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Практическая применимость: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 двухэтапная схема подтверждена многочисленными исследованиями, обеспечивает высокую точность при умеренных вычислительных затратах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0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Модульность: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 возможность независимой замены детектора или распознавателя при появлении более совершенных архитектур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0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Гибкость развёртывания: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 как на серверных мощностях, так и на edge-устройствах (Raspberry Pi 4) путём замены детектора на YOLOv3-Tiny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0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Интеграция с историческими данными: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 возможность добавления модуля валидации показаний на основе регрессионной модели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5"/>
          <p:cNvSpPr/>
          <p:nvPr/>
        </p:nvSpPr>
        <p:spPr>
          <a:xfrm>
            <a:off x="6268320" y="1768320"/>
            <a:ext cx="5231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Детектор: YOLOv8n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6"/>
          <p:cNvSpPr/>
          <p:nvPr/>
        </p:nvSpPr>
        <p:spPr>
          <a:xfrm>
            <a:off x="6268320" y="2075400"/>
            <a:ext cx="5840640" cy="1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Оптимальный баланс между точностью и скоростью: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7"/>
          <p:cNvSpPr/>
          <p:nvPr/>
        </p:nvSpPr>
        <p:spPr>
          <a:xfrm>
            <a:off x="6268320" y="2365560"/>
            <a:ext cx="5231160" cy="135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mAP@50 = </a:t>
            </a: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97,21%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mAP@50-95 = </a:t>
            </a: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66,88%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Precision = </a:t>
            </a: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96,52%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Recall = </a:t>
            </a: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94,95%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Время инференса: </a:t>
            </a: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0,31 с</a:t>
            </a: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(YOLOv3-Tiny — 1,32 с, в 4,3× медленнее)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Поддержка экспорта в ONNX и TensorRT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8"/>
          <p:cNvSpPr/>
          <p:nvPr/>
        </p:nvSpPr>
        <p:spPr>
          <a:xfrm>
            <a:off x="6268320" y="3822840"/>
            <a:ext cx="5231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Распознаватель: PP-OCRv3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9"/>
          <p:cNvSpPr/>
          <p:nvPr/>
        </p:nvSpPr>
        <p:spPr>
          <a:xfrm>
            <a:off x="6268320" y="4129920"/>
            <a:ext cx="5840640" cy="1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После fine-tuning на целевом датасете: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0"/>
          <p:cNvSpPr/>
          <p:nvPr/>
        </p:nvSpPr>
        <p:spPr>
          <a:xfrm>
            <a:off x="6268320" y="4420080"/>
            <a:ext cx="5231160" cy="8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Точность на цифровых счётчиках: </a:t>
            </a:r>
            <a:r>
              <a:rPr b="1" lang="en-US" sz="10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94,2%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EasyOCR — 89,8%; CRNN — 91,5%; Tesseract — 54,0%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Устойчивость к наклону и искажениям за счёт архитектуры DB + CRNN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3480" indent="-213480" defTabSz="914400">
              <a:lnSpc>
                <a:spcPct val="119000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Возможность тонкой настройки под специфические шрифты счётчиков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1"/>
          <p:cNvSpPr/>
          <p:nvPr/>
        </p:nvSpPr>
        <p:spPr>
          <a:xfrm>
            <a:off x="698040" y="5465160"/>
            <a:ext cx="10795320" cy="852480"/>
          </a:xfrm>
          <a:prstGeom prst="roundRect">
            <a:avLst>
              <a:gd name="adj" fmla="val 2398"/>
            </a:avLst>
          </a:prstGeom>
          <a:solidFill>
            <a:srgbClr val="7906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3" name="Image 0" descr="preencoded.png"/>
          <p:cNvPicPr/>
          <p:nvPr/>
        </p:nvPicPr>
        <p:blipFill>
          <a:blip r:embed="rId1"/>
          <a:stretch/>
        </p:blipFill>
        <p:spPr>
          <a:xfrm>
            <a:off x="834480" y="5619600"/>
            <a:ext cx="169920" cy="13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Text 12"/>
          <p:cNvSpPr/>
          <p:nvPr/>
        </p:nvSpPr>
        <p:spPr>
          <a:xfrm>
            <a:off x="1141200" y="5605920"/>
            <a:ext cx="10215720" cy="5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Модуль постобработки включает фильтрацию по уверенности (порог 0,40), упорядочивание цифр и вставку десятичной точки. Интеграция с историческими данными позволяет сравнивать текущее показание с предыдущим и выявлять аномалии (например, резкое уменьшение показаний может свидетельствовать об ошибке распознавания).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5" name="Рисунок 15" descr=""/>
          <p:cNvPicPr/>
          <p:nvPr/>
        </p:nvPicPr>
        <p:blipFill>
          <a:blip r:embed="rId2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Image 0" descr="preencoded.png"/>
          <p:cNvPicPr/>
          <p:nvPr/>
        </p:nvPicPr>
        <p:blipFill>
          <a:blip r:embed="rId1"/>
          <a:stretch/>
        </p:blipFill>
        <p:spPr>
          <a:xfrm>
            <a:off x="7619760" y="0"/>
            <a:ext cx="45716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Text 0"/>
          <p:cNvSpPr/>
          <p:nvPr/>
        </p:nvSpPr>
        <p:spPr>
          <a:xfrm>
            <a:off x="698040" y="1041120"/>
            <a:ext cx="6223320" cy="15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Обучение модели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698040" y="2842560"/>
            <a:ext cx="6223320" cy="25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Процесс обучения системы распознавания показаний счётчиков электроэнергии включает независимое обучение детектора (YOLOv8n) и распознавателя (PP-OCRv3) с использованием трансферного обучения, тщательно подобранных гиперпараметров и аугментации данных. Для специализированных типов счётчиков применяются дополнительные методы — скользящее окно с регрессией и сегментация шкалы. Контроль переобучения обеспечивается early stopping и мониторингом метрик на валидации. Сквозная валидация подтверждает практическую применимость системы, а фиксация всех параметров гарантирует воспроизводимость результатов.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"/>
          <p:cNvSpPr/>
          <p:nvPr/>
        </p:nvSpPr>
        <p:spPr>
          <a:xfrm>
            <a:off x="698040" y="5551920"/>
            <a:ext cx="1306440" cy="264600"/>
          </a:xfrm>
          <a:prstGeom prst="roundRect">
            <a:avLst>
              <a:gd name="adj" fmla="val 7901"/>
            </a:avLst>
          </a:prstGeom>
          <a:solidFill>
            <a:srgbClr val="4904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"/>
          <p:cNvSpPr/>
          <p:nvPr/>
        </p:nvSpPr>
        <p:spPr>
          <a:xfrm>
            <a:off x="802800" y="5604120"/>
            <a:ext cx="17067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COMPUTER VISION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4"/>
          <p:cNvSpPr/>
          <p:nvPr/>
        </p:nvSpPr>
        <p:spPr>
          <a:xfrm>
            <a:off x="2092320" y="5551920"/>
            <a:ext cx="753120" cy="264600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2196720" y="5604120"/>
            <a:ext cx="11534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98ac7"/>
                </a:solidFill>
                <a:effectLst/>
                <a:uFillTx/>
                <a:latin typeface="Source Sans 3"/>
                <a:ea typeface="Source Sans 3"/>
              </a:rPr>
              <a:t>YOLOV8N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6"/>
          <p:cNvSpPr/>
          <p:nvPr/>
        </p:nvSpPr>
        <p:spPr>
          <a:xfrm>
            <a:off x="2932920" y="5551920"/>
            <a:ext cx="799560" cy="264600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7"/>
          <p:cNvSpPr/>
          <p:nvPr/>
        </p:nvSpPr>
        <p:spPr>
          <a:xfrm>
            <a:off x="3037680" y="5604120"/>
            <a:ext cx="11998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98ac7"/>
                </a:solidFill>
                <a:effectLst/>
                <a:uFillTx/>
                <a:latin typeface="Source Sans 3"/>
                <a:ea typeface="Source Sans 3"/>
              </a:rPr>
              <a:t>PP-OCRV3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8"/>
          <p:cNvSpPr/>
          <p:nvPr/>
        </p:nvSpPr>
        <p:spPr>
          <a:xfrm>
            <a:off x="3820320" y="5551920"/>
            <a:ext cx="1453320" cy="264600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9"/>
          <p:cNvSpPr/>
          <p:nvPr/>
        </p:nvSpPr>
        <p:spPr>
          <a:xfrm>
            <a:off x="3924720" y="5604120"/>
            <a:ext cx="18536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98ac7"/>
                </a:solidFill>
                <a:effectLst/>
                <a:uFillTx/>
                <a:latin typeface="Source Sans 3"/>
                <a:ea typeface="Source Sans 3"/>
              </a:rPr>
              <a:t>TRANSFER LEARNING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 0"/>
          <p:cNvSpPr/>
          <p:nvPr/>
        </p:nvSpPr>
        <p:spPr>
          <a:xfrm>
            <a:off x="698040" y="516960"/>
            <a:ext cx="1079532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Двухэтапный пайплайн обучения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"/>
          <p:cNvSpPr/>
          <p:nvPr/>
        </p:nvSpPr>
        <p:spPr>
          <a:xfrm>
            <a:off x="698040" y="1305000"/>
            <a:ext cx="10795320" cy="12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Обучение системы распознавания показаний реализуется в рамках двухэтапного пайплайна, где каждый компонент — детектор и распознаватель — обучается независимо. Такая стратегия обеспечивает модульность, позволяет использовать различные предобученные модели и оптимизировать гиперпараметры для каждой задачи отдельно. Обучение проводится с учителем (supervised learning) на размеченном датасете. Для обеих моделей используется трансферное обучение (transfer learning): начальные веса загружаются из моделей, предобученных на крупных наборах данных, после чего выполняется дообучение на целевом датасете счётчиков.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"/>
          <p:cNvSpPr/>
          <p:nvPr/>
        </p:nvSpPr>
        <p:spPr>
          <a:xfrm>
            <a:off x="698040" y="2745000"/>
            <a:ext cx="3268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01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3"/>
          <p:cNvSpPr/>
          <p:nvPr/>
        </p:nvSpPr>
        <p:spPr>
          <a:xfrm>
            <a:off x="698040" y="3004200"/>
            <a:ext cx="5320800" cy="18720"/>
          </a:xfrm>
          <a:prstGeom prst="rect">
            <a:avLst/>
          </a:prstGeom>
          <a:solidFill>
            <a:srgbClr val="6eb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4"/>
          <p:cNvSpPr/>
          <p:nvPr/>
        </p:nvSpPr>
        <p:spPr>
          <a:xfrm>
            <a:off x="698040" y="3124080"/>
            <a:ext cx="532080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Обучение детектора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5"/>
          <p:cNvSpPr/>
          <p:nvPr/>
        </p:nvSpPr>
        <p:spPr>
          <a:xfrm>
            <a:off x="698040" y="3456360"/>
            <a:ext cx="532080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Модель YOLOv8n для обнаружения области дисплея и отдельных цифр. Начальные веса загружаются из модели, предобученной на датасете.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6"/>
          <p:cNvSpPr/>
          <p:nvPr/>
        </p:nvSpPr>
        <p:spPr>
          <a:xfrm>
            <a:off x="6172560" y="2745000"/>
            <a:ext cx="3268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02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7"/>
          <p:cNvSpPr/>
          <p:nvPr/>
        </p:nvSpPr>
        <p:spPr>
          <a:xfrm>
            <a:off x="6172560" y="3004200"/>
            <a:ext cx="5320800" cy="18720"/>
          </a:xfrm>
          <a:prstGeom prst="rect">
            <a:avLst/>
          </a:prstGeom>
          <a:solidFill>
            <a:srgbClr val="6eb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8"/>
          <p:cNvSpPr/>
          <p:nvPr/>
        </p:nvSpPr>
        <p:spPr>
          <a:xfrm>
            <a:off x="6172560" y="3124080"/>
            <a:ext cx="532080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Обучение распознавателя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9"/>
          <p:cNvSpPr/>
          <p:nvPr/>
        </p:nvSpPr>
        <p:spPr>
          <a:xfrm>
            <a:off x="6172560" y="3456360"/>
            <a:ext cx="5320800" cy="10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Модель PP-OCRv3 для преобразования изображения цифр в числовую последовательность. Используется базовая модель ch_PP-OCRv3_rec_distillation, предобученная на синтетическом текстовом датасете.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0"/>
          <p:cNvSpPr/>
          <p:nvPr/>
        </p:nvSpPr>
        <p:spPr>
          <a:xfrm>
            <a:off x="698040" y="4746600"/>
            <a:ext cx="3268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03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1"/>
          <p:cNvSpPr/>
          <p:nvPr/>
        </p:nvSpPr>
        <p:spPr>
          <a:xfrm>
            <a:off x="698040" y="4989240"/>
            <a:ext cx="5320800" cy="18720"/>
          </a:xfrm>
          <a:prstGeom prst="rect">
            <a:avLst/>
          </a:prstGeom>
          <a:solidFill>
            <a:srgbClr val="6eb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2"/>
          <p:cNvSpPr/>
          <p:nvPr/>
        </p:nvSpPr>
        <p:spPr>
          <a:xfrm>
            <a:off x="698040" y="5125320"/>
            <a:ext cx="532080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Совместная валидация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3"/>
          <p:cNvSpPr/>
          <p:nvPr/>
        </p:nvSpPr>
        <p:spPr>
          <a:xfrm>
            <a:off x="698040" y="5457960"/>
            <a:ext cx="532080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Оценка сквозного пайплайна на валидационной выборке: детектор выделяет область счёта, OCR распознаёт цифры, постобработка формирует итоговое показание и сравнивает с истинным значением.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4"/>
          <p:cNvSpPr/>
          <p:nvPr/>
        </p:nvSpPr>
        <p:spPr>
          <a:xfrm>
            <a:off x="6172560" y="4746600"/>
            <a:ext cx="3268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04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5"/>
          <p:cNvSpPr/>
          <p:nvPr/>
        </p:nvSpPr>
        <p:spPr>
          <a:xfrm>
            <a:off x="6172560" y="4989240"/>
            <a:ext cx="5320800" cy="18720"/>
          </a:xfrm>
          <a:prstGeom prst="rect">
            <a:avLst/>
          </a:prstGeom>
          <a:solidFill>
            <a:srgbClr val="6eb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6"/>
          <p:cNvSpPr/>
          <p:nvPr/>
        </p:nvSpPr>
        <p:spPr>
          <a:xfrm>
            <a:off x="6172560" y="5125320"/>
            <a:ext cx="532080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Тонкая настройка (Fine-tuning)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7"/>
          <p:cNvSpPr/>
          <p:nvPr/>
        </p:nvSpPr>
        <p:spPr>
          <a:xfrm>
            <a:off x="6172560" y="5457960"/>
            <a:ext cx="532080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Адаптация моделей под специфические типы счётчиков. Для распознавателя выполняется в два этапа: заморозка магистрали и полное дообучение всех слоёв.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5" name="Рисунок 19" descr=""/>
          <p:cNvPicPr/>
          <p:nvPr/>
        </p:nvPicPr>
        <p:blipFill>
          <a:blip r:embed="rId1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0"/>
          <p:cNvSpPr/>
          <p:nvPr/>
        </p:nvSpPr>
        <p:spPr>
          <a:xfrm>
            <a:off x="698040" y="649800"/>
            <a:ext cx="10795320" cy="10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Обучение детектора YOLOv8n: подготовка данных и архитектура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"/>
          <p:cNvSpPr/>
          <p:nvPr/>
        </p:nvSpPr>
        <p:spPr>
          <a:xfrm>
            <a:off x="572400" y="1937880"/>
            <a:ext cx="5436000" cy="4269960"/>
          </a:xfrm>
          <a:prstGeom prst="roundRect">
            <a:avLst>
              <a:gd name="adj" fmla="val 613"/>
            </a:avLst>
          </a:prstGeom>
          <a:solidFill>
            <a:srgbClr val="f98a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"/>
          <p:cNvSpPr/>
          <p:nvPr/>
        </p:nvSpPr>
        <p:spPr>
          <a:xfrm>
            <a:off x="747000" y="2112480"/>
            <a:ext cx="50868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Lora"/>
                <a:ea typeface="Lora"/>
              </a:rPr>
              <a:t>Подготовка данных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"/>
          <p:cNvSpPr/>
          <p:nvPr/>
        </p:nvSpPr>
        <p:spPr>
          <a:xfrm>
            <a:off x="747000" y="2543760"/>
            <a:ext cx="5086800" cy="19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На вход детектора подаются полноразмерные изображения </a:t>
            </a: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640×640</a:t>
            </a: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 с аннотациями в формате YOLO. Каждая аннотация содержит класс объекта (область дисплея или отдельная цифра) и нормализованные координаты ограничивающей рамки. Датасет разделён на обучающую (</a:t>
            </a: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70–80%</a:t>
            </a: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), валидационную (</a:t>
            </a: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10–15%</a:t>
            </a: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) и тестовую (</a:t>
            </a: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10–20%</a:t>
            </a: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) выборки с группировкой по идентификатору счётчика для предотвращения утечки данных.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4"/>
          <p:cNvSpPr/>
          <p:nvPr/>
        </p:nvSpPr>
        <p:spPr>
          <a:xfrm>
            <a:off x="6315120" y="2112480"/>
            <a:ext cx="518436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Архитектура и инициализация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5"/>
          <p:cNvSpPr/>
          <p:nvPr/>
        </p:nvSpPr>
        <p:spPr>
          <a:xfrm>
            <a:off x="6315120" y="2543760"/>
            <a:ext cx="57942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YOLOv8n состоит из трёх основных компонентов: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6"/>
          <p:cNvSpPr/>
          <p:nvPr/>
        </p:nvSpPr>
        <p:spPr>
          <a:xfrm>
            <a:off x="6315120" y="2980080"/>
            <a:ext cx="5184360" cy="17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marL="274320" indent="-274320" defTabSz="914400">
              <a:lnSpc>
                <a:spcPct val="133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Магистраль (Backbone)</a:t>
            </a: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— CSPDarknet для извлечения признаков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74320" defTabSz="914400">
              <a:lnSpc>
                <a:spcPct val="133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Шея (Neck)</a:t>
            </a: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— PAN-FPN для агрегации признаков на разных масштабах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74320" defTabSz="914400">
              <a:lnSpc>
                <a:spcPct val="133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Голова (Head)</a:t>
            </a: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— anchor-free detection head для предсказания bounding box и классов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7"/>
          <p:cNvSpPr/>
          <p:nvPr/>
        </p:nvSpPr>
        <p:spPr>
          <a:xfrm>
            <a:off x="6315120" y="4934520"/>
            <a:ext cx="5184360" cy="11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Для обучения используется модель, предобученная на датасете. Все слои инициализируются предобученными весами, после чего происходит дообучение на целевом датасете счётчиков.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4" name="Рисунок 9" descr=""/>
          <p:cNvPicPr/>
          <p:nvPr/>
        </p:nvPicPr>
        <p:blipFill>
          <a:blip r:embed="rId1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 0"/>
          <p:cNvSpPr/>
          <p:nvPr/>
        </p:nvSpPr>
        <p:spPr>
          <a:xfrm>
            <a:off x="698040" y="537120"/>
            <a:ext cx="1079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8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Гиперпараметры обучения YOLOv8n</a:t>
            </a:r>
            <a:endParaRPr b="0" lang="ru-RU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6" name="Table 0"/>
          <p:cNvGraphicFramePr/>
          <p:nvPr/>
        </p:nvGraphicFramePr>
        <p:xfrm>
          <a:off x="698040" y="1271160"/>
          <a:ext cx="10795320" cy="5036760"/>
        </p:xfrm>
        <a:graphic>
          <a:graphicData uri="http://schemas.openxmlformats.org/drawingml/2006/table">
            <a:tbl>
              <a:tblPr/>
              <a:tblGrid>
                <a:gridCol w="3238560"/>
                <a:gridCol w="2698560"/>
                <a:gridCol w="4857840"/>
              </a:tblGrid>
              <a:tr h="416880"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Параметр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Значение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Обоснование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420120"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Размер входа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640×640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Баланс детализации и скорости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420120"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Batch size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16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Оптимально для GPU с 8–12 ГБ памяти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420120"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Эпохи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150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Достаточно для сходимости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420120"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Early stopping patience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30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Предотвращение переобучения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420120"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Оптимизатор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Auto (SGD/AdamW)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Автоматический выбор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420120"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Начальный learning rate (lr0)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0.01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Стандарт для YOLO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420120"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Финальный learning rate (lrf)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0.01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Косинусное затухание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420120"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Weight decay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0.0005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Регуляризация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420120"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Momentum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0.937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Для SGD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420120"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Warmup epochs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3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Плавный старт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416880"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Mixed precision (AMP)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Вкл.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55160" rIns="155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Ускорение обучения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5160" marR="155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</a:tbl>
          </a:graphicData>
        </a:graphic>
      </p:graphicFrame>
      <p:pic>
        <p:nvPicPr>
          <p:cNvPr id="317" name="Рисунок 3" descr=""/>
          <p:cNvPicPr/>
          <p:nvPr/>
        </p:nvPicPr>
        <p:blipFill>
          <a:blip r:embed="rId1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/>
          <p:nvPr/>
        </p:nvSpPr>
        <p:spPr>
          <a:xfrm>
            <a:off x="698040" y="627840"/>
            <a:ext cx="10795320" cy="4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9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Аугментация данных и функция потерь YOLOv8n</a:t>
            </a:r>
            <a:endParaRPr b="0" lang="ru-RU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"/>
          <p:cNvSpPr/>
          <p:nvPr/>
        </p:nvSpPr>
        <p:spPr>
          <a:xfrm>
            <a:off x="698040" y="1451160"/>
            <a:ext cx="520452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Онлайн-аугментации при обучении</a:t>
            </a:r>
            <a:endParaRPr b="0" lang="ru-RU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"/>
          <p:cNvSpPr/>
          <p:nvPr/>
        </p:nvSpPr>
        <p:spPr>
          <a:xfrm>
            <a:off x="698040" y="1827000"/>
            <a:ext cx="5204520" cy="7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27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Во время обучения применяются онлайн-аугментации, встроенные в пайплайн YOLOv8. Аугментации применяются только к обучающей выборке — валидационная и тестовая выборки остаются неизменными.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3"/>
          <p:cNvSpPr/>
          <p:nvPr/>
        </p:nvSpPr>
        <p:spPr>
          <a:xfrm>
            <a:off x="698040" y="2679480"/>
            <a:ext cx="5204520" cy="23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marL="243720" indent="-243720" defTabSz="914400">
              <a:lnSpc>
                <a:spcPct val="127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2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Mosaic</a:t>
            </a: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— объединение четырёх изображений в одно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720" indent="-243720" defTabSz="914400">
              <a:lnSpc>
                <a:spcPct val="127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2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MixUp</a:t>
            </a: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— линейная интерполяция двух изображений (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720" indent="-243720" defTabSz="914400">
              <a:lnSpc>
                <a:spcPct val="127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2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Геометрические преобразования</a:t>
            </a: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: повороты (±10°), масштабирование (0.5–1.5), сдвиги, отражения по горизонтали (вероятность 0.5)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720" indent="-243720" defTabSz="914400">
              <a:lnSpc>
                <a:spcPct val="127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2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Фотометрические преобразования</a:t>
            </a: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: изменение оттенка (H ±0.015), насыщенности (S ±0.7), яркости (V ±0.4)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720" indent="-243720" defTabSz="914400">
              <a:lnSpc>
                <a:spcPct val="127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2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Random Erasing</a:t>
            </a: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— случайное стирание прямоугольных областей (вероятность 0.4)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4"/>
          <p:cNvSpPr/>
          <p:nvPr/>
        </p:nvSpPr>
        <p:spPr>
          <a:xfrm>
            <a:off x="6295320" y="1451160"/>
            <a:ext cx="520452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Комбинированная функция потерь</a:t>
            </a:r>
            <a:endParaRPr b="0" lang="ru-RU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5"/>
          <p:cNvSpPr/>
          <p:nvPr/>
        </p:nvSpPr>
        <p:spPr>
          <a:xfrm>
            <a:off x="6295320" y="1827000"/>
            <a:ext cx="5204520" cy="4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27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YOLOv8 использует комбинированную функцию потерь, состоящую из трёх компонентов: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6"/>
          <p:cNvSpPr/>
          <p:nvPr/>
        </p:nvSpPr>
        <p:spPr>
          <a:xfrm>
            <a:off x="6295320" y="2438280"/>
            <a:ext cx="5204520" cy="13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marL="243720" indent="-243720" defTabSz="914400">
              <a:lnSpc>
                <a:spcPct val="127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2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Classification Loss</a:t>
            </a: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— бинарная кросс-энтропия (BCE) для классификации объектов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720" indent="-243720" defTabSz="914400">
              <a:lnSpc>
                <a:spcPct val="127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2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Box Regression Loss</a:t>
            </a: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— CIoU (Complete IoU) для регрессии координат ограничивающих рамок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720" indent="-243720" defTabSz="914400">
              <a:lnSpc>
                <a:spcPct val="127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2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Distribution Focal Loss (DFL)</a:t>
            </a: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— для повышения точности локализации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7"/>
          <p:cNvSpPr/>
          <p:nvPr/>
        </p:nvSpPr>
        <p:spPr>
          <a:xfrm>
            <a:off x="6295320" y="3872880"/>
            <a:ext cx="58140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27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Общая потеря суммируется с весами, подобранными эмпирически.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8"/>
          <p:cNvSpPr/>
          <p:nvPr/>
        </p:nvSpPr>
        <p:spPr>
          <a:xfrm>
            <a:off x="6295320" y="4257360"/>
            <a:ext cx="520452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Контроль переобучения</a:t>
            </a:r>
            <a:endParaRPr b="0" lang="ru-RU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9"/>
          <p:cNvSpPr/>
          <p:nvPr/>
        </p:nvSpPr>
        <p:spPr>
          <a:xfrm>
            <a:off x="6295320" y="4633200"/>
            <a:ext cx="5204520" cy="154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marL="243720" indent="-243720" defTabSz="914400">
              <a:lnSpc>
                <a:spcPct val="127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2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Early stopping</a:t>
            </a: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— обучение прекращается, если mAP@50-95 на валидации не улучшается в течение 30 эпох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720" indent="-243720" defTabSz="914400">
              <a:lnSpc>
                <a:spcPct val="127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2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Сохранение лучших весов</a:t>
            </a: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— сохраняется модель с наилучшим mAP на валидации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720" indent="-243720" defTabSz="914400">
              <a:lnSpc>
                <a:spcPct val="127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2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Мониторинг метрик</a:t>
            </a:r>
            <a:r>
              <a:rPr b="0" lang="en-US" sz="12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— на каждой эпохе вычисляются mAP@50, mAP@50-95, Precision, Recall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8" name="Рисунок 11" descr=""/>
          <p:cNvPicPr/>
          <p:nvPr/>
        </p:nvPicPr>
        <p:blipFill>
          <a:blip r:embed="rId1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0"/>
          <p:cNvSpPr/>
          <p:nvPr/>
        </p:nvSpPr>
        <p:spPr>
          <a:xfrm>
            <a:off x="698040" y="680400"/>
            <a:ext cx="10795320" cy="10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Обучение модуля распознавания PP-OCRv3: архитектура и данные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"/>
          <p:cNvSpPr/>
          <p:nvPr/>
        </p:nvSpPr>
        <p:spPr>
          <a:xfrm>
            <a:off x="572400" y="1968480"/>
            <a:ext cx="5436000" cy="4208760"/>
          </a:xfrm>
          <a:prstGeom prst="roundRect">
            <a:avLst>
              <a:gd name="adj" fmla="val 622"/>
            </a:avLst>
          </a:prstGeom>
          <a:solidFill>
            <a:srgbClr val="f98a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"/>
          <p:cNvSpPr/>
          <p:nvPr/>
        </p:nvSpPr>
        <p:spPr>
          <a:xfrm>
            <a:off x="747000" y="2143080"/>
            <a:ext cx="50868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Lora"/>
                <a:ea typeface="Lora"/>
              </a:rPr>
              <a:t>Подготовка данных для OCR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"/>
          <p:cNvSpPr/>
          <p:nvPr/>
        </p:nvSpPr>
        <p:spPr>
          <a:xfrm>
            <a:off x="747000" y="2574360"/>
            <a:ext cx="5086800" cy="19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Для обучения OCR-модели используются вырезанные области цифр, полученные на основе аннотаций детектора. Каждая область масштабируется до фиксированной высоты (</a:t>
            </a: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32 или 48 пикселей</a:t>
            </a: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) с сохранением пропорций. Формируются пары «изображение — текстовая метка» (например, «01234»). Датасет для OCR включает не менее </a:t>
            </a: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5 000 изображений</a:t>
            </a: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 для fine-tuning распознавателя и </a:t>
            </a: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500 изображений</a:t>
            </a: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 для детектора текста.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4"/>
          <p:cNvSpPr/>
          <p:nvPr/>
        </p:nvSpPr>
        <p:spPr>
          <a:xfrm>
            <a:off x="6315120" y="2143080"/>
            <a:ext cx="518436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Архитектура PP-OCRv3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5"/>
          <p:cNvSpPr/>
          <p:nvPr/>
        </p:nvSpPr>
        <p:spPr>
          <a:xfrm>
            <a:off x="6315120" y="2574360"/>
            <a:ext cx="57942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PP-OCRv3 состоит из двух компонентов: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6"/>
          <p:cNvSpPr/>
          <p:nvPr/>
        </p:nvSpPr>
        <p:spPr>
          <a:xfrm>
            <a:off x="6315120" y="3010320"/>
            <a:ext cx="5184360" cy="14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marL="274320" indent="-274320" defTabSz="914400">
              <a:lnSpc>
                <a:spcPct val="133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Текстовый детектор</a:t>
            </a: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на основе DB (Differentiable Binarization) — выделяет области текста на изображении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74320" defTabSz="914400">
              <a:lnSpc>
                <a:spcPct val="133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Текстовый распознаватель</a:t>
            </a: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на основе CRNN или SVTR — преобразует изображение текста в последовательность символов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7"/>
          <p:cNvSpPr/>
          <p:nvPr/>
        </p:nvSpPr>
        <p:spPr>
          <a:xfrm>
            <a:off x="6315120" y="4624560"/>
            <a:ext cx="5184360" cy="13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Для распознавания цифр используется </a:t>
            </a:r>
            <a:r>
              <a:rPr b="1" lang="en-US" sz="13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CRNN с CTC-loss</a:t>
            </a: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(Connectionist Temporal Classification), что позволяет обрабатывать последовательности переменной длины без явного выравнивания. Базовая модель — </a:t>
            </a:r>
            <a:r>
              <a:rPr b="1" lang="en-US" sz="13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ch_PP-OCRv3_rec_distillation</a:t>
            </a: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. 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7" name="Рисунок 9" descr=""/>
          <p:cNvPicPr/>
          <p:nvPr/>
        </p:nvPicPr>
        <p:blipFill>
          <a:blip r:embed="rId1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 0"/>
          <p:cNvSpPr/>
          <p:nvPr/>
        </p:nvSpPr>
        <p:spPr>
          <a:xfrm>
            <a:off x="698040" y="487800"/>
            <a:ext cx="1079532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3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Гиперпараметры и Fine-tuning PP-OCRv3</a:t>
            </a:r>
            <a:endParaRPr b="0" lang="ru-RU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9" name="Table 0"/>
          <p:cNvGraphicFramePr/>
          <p:nvPr/>
        </p:nvGraphicFramePr>
        <p:xfrm>
          <a:off x="698040" y="1053000"/>
          <a:ext cx="10795320" cy="3090960"/>
        </p:xfrm>
        <a:graphic>
          <a:graphicData uri="http://schemas.openxmlformats.org/drawingml/2006/table">
            <a:tbl>
              <a:tblPr/>
              <a:tblGrid>
                <a:gridCol w="4318200"/>
                <a:gridCol w="6477120"/>
              </a:tblGrid>
              <a:tr h="306360"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Параметр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Значение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309600"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Базовая модель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ch_PP-OCRv3_rec_distillation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309600"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Размер входа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3×48×320 (высота × ширина)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309600"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Batch size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64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309600"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Эпохи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100–200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309600"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Оптимизатор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Adam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309600"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Learning rate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0.001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309600"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Learning rate decay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Косинусное затухание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309600"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Weight decay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0.00001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306360"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Функция потерь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28160" rIns="12816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CTC Loss</a:t>
                      </a:r>
                      <a:endParaRPr b="0" lang="ru-RU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8160" marR="12816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</a:tbl>
          </a:graphicData>
        </a:graphic>
      </p:graphicFrame>
      <p:sp>
        <p:nvSpPr>
          <p:cNvPr id="340" name="Text 1"/>
          <p:cNvSpPr/>
          <p:nvPr/>
        </p:nvSpPr>
        <p:spPr>
          <a:xfrm>
            <a:off x="698040" y="4298040"/>
            <a:ext cx="1079532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Двухэтапный Fine-tuning</a:t>
            </a:r>
            <a:endParaRPr b="0" lang="ru-RU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"/>
          <p:cNvSpPr/>
          <p:nvPr/>
        </p:nvSpPr>
        <p:spPr>
          <a:xfrm>
            <a:off x="698040" y="4627800"/>
            <a:ext cx="11404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Fine-tuning выполняется в два этапа: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"/>
          <p:cNvSpPr/>
          <p:nvPr/>
        </p:nvSpPr>
        <p:spPr>
          <a:xfrm>
            <a:off x="698040" y="4911480"/>
            <a:ext cx="10795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marL="203040" indent="-203040" defTabSz="914400">
              <a:lnSpc>
                <a:spcPct val="115000"/>
              </a:lnSpc>
              <a:buClr>
                <a:srgbClr val="d6e5ef"/>
              </a:buClr>
              <a:buFont typeface="Calibri Light"/>
              <a:buAutoNum type="arabicPeriod"/>
            </a:pPr>
            <a:r>
              <a:rPr b="1" lang="en-US" sz="10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Заморозка магистрали</a:t>
            </a:r>
            <a:r>
              <a:rPr b="0" lang="en-US" sz="10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— первые эпохи обучаются только последние слои, чтобы адаптировать модель к новому домену без разрушения предобученных признаков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buClr>
                <a:srgbClr val="d6e5ef"/>
              </a:buClr>
              <a:buFont typeface="Calibri Light"/>
              <a:buAutoNum type="arabicPeriod" startAt="2"/>
            </a:pPr>
            <a:r>
              <a:rPr b="1" lang="en-US" sz="10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Полное дообучение</a:t>
            </a:r>
            <a:r>
              <a:rPr b="0" lang="en-US" sz="10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— после стабилизации потерь все слои размораживаются и обучаются с меньшим learning rate (</a:t>
            </a:r>
            <a:r>
              <a:rPr b="1" lang="en-US" sz="10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0.0001</a:t>
            </a:r>
            <a:r>
              <a:rPr b="0" lang="en-US" sz="10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)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"/>
          <p:cNvSpPr/>
          <p:nvPr/>
        </p:nvSpPr>
        <p:spPr>
          <a:xfrm>
            <a:off x="698040" y="5441400"/>
            <a:ext cx="1079532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Аугментация для OCR</a:t>
            </a:r>
            <a:endParaRPr b="0" lang="ru-RU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5"/>
          <p:cNvSpPr/>
          <p:nvPr/>
        </p:nvSpPr>
        <p:spPr>
          <a:xfrm>
            <a:off x="698040" y="5770800"/>
            <a:ext cx="10795320" cy="5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marL="203040" indent="-203040" defTabSz="914400">
              <a:lnSpc>
                <a:spcPct val="115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0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Геометрические</a:t>
            </a:r>
            <a:r>
              <a:rPr b="0" lang="en-US" sz="10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: повороты (±5°), масштабирование (0.9–1.1), сдвиги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0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Фотометрические</a:t>
            </a:r>
            <a:r>
              <a:rPr b="0" lang="en-US" sz="10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: изменение яркости, контраста, размытие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buClr>
                <a:srgbClr val="d6e5ef"/>
              </a:buClr>
              <a:buFont typeface="Symbol" charset="2"/>
              <a:buChar char=""/>
            </a:pPr>
            <a:r>
              <a:rPr b="1" lang="en-US" sz="10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Специфические</a:t>
            </a:r>
            <a:r>
              <a:rPr b="0" lang="en-US" sz="10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: имитация бликов, запылённости, частичного перекрытия цифр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5" name="Рисунок 8" descr=""/>
          <p:cNvPicPr/>
          <p:nvPr/>
        </p:nvPicPr>
        <p:blipFill>
          <a:blip r:embed="rId1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Image 0" descr="preencoded.png"/>
          <p:cNvPicPr/>
          <p:nvPr/>
        </p:nvPicPr>
        <p:blipFill>
          <a:blip r:embed="rId1"/>
          <a:stretch/>
        </p:blipFill>
        <p:spPr>
          <a:xfrm>
            <a:off x="7619760" y="0"/>
            <a:ext cx="45716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Text 0"/>
          <p:cNvSpPr/>
          <p:nvPr/>
        </p:nvSpPr>
        <p:spPr>
          <a:xfrm>
            <a:off x="698040" y="485640"/>
            <a:ext cx="6223320" cy="9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Специализированные модели: механические счётчики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"/>
          <p:cNvSpPr/>
          <p:nvPr/>
        </p:nvSpPr>
        <p:spPr>
          <a:xfrm>
            <a:off x="698040" y="1725840"/>
            <a:ext cx="6223320" cy="79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31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Для механических счётчиков с роликовой шкалой применяется специализированный подход с методом скользящего окна и регрессией. Обучение проводится на временных рядах изображений одного счётчика.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2"/>
          <p:cNvSpPr/>
          <p:nvPr/>
        </p:nvSpPr>
        <p:spPr>
          <a:xfrm>
            <a:off x="698040" y="2709000"/>
            <a:ext cx="3029760" cy="2282040"/>
          </a:xfrm>
          <a:prstGeom prst="roundRect">
            <a:avLst>
              <a:gd name="adj" fmla="val 1111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3"/>
          <p:cNvSpPr/>
          <p:nvPr/>
        </p:nvSpPr>
        <p:spPr>
          <a:xfrm>
            <a:off x="867240" y="2877840"/>
            <a:ext cx="26913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Классификационная сеть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4"/>
          <p:cNvSpPr/>
          <p:nvPr/>
        </p:nvSpPr>
        <p:spPr>
          <a:xfrm>
            <a:off x="867240" y="3224880"/>
            <a:ext cx="2691360" cy="13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19999"/>
          </a:bodyPr>
          <a:p>
            <a:pPr defTabSz="914400">
              <a:lnSpc>
                <a:spcPct val="131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Распознавание отдельных цифр на роликовой шкале механического счётчика. Используется CTC Loss для классификации последовательностей символов.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5"/>
          <p:cNvSpPr/>
          <p:nvPr/>
        </p:nvSpPr>
        <p:spPr>
          <a:xfrm>
            <a:off x="3891600" y="2709000"/>
            <a:ext cx="3029760" cy="2282040"/>
          </a:xfrm>
          <a:prstGeom prst="roundRect">
            <a:avLst>
              <a:gd name="adj" fmla="val 1111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6"/>
          <p:cNvSpPr/>
          <p:nvPr/>
        </p:nvSpPr>
        <p:spPr>
          <a:xfrm>
            <a:off x="4060800" y="2877840"/>
            <a:ext cx="26913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Регрессионная модель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7"/>
          <p:cNvSpPr/>
          <p:nvPr/>
        </p:nvSpPr>
        <p:spPr>
          <a:xfrm>
            <a:off x="4060800" y="3224880"/>
            <a:ext cx="2691360" cy="15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31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Анализ исторических данных и коррекция промежуточных положений роликов. Функция потерь комбинирует MSE для регрессии с CTC Loss для классификации.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8"/>
          <p:cNvSpPr/>
          <p:nvPr/>
        </p:nvSpPr>
        <p:spPr>
          <a:xfrm>
            <a:off x="698040" y="5154840"/>
            <a:ext cx="6223320" cy="1217160"/>
          </a:xfrm>
          <a:prstGeom prst="roundRect">
            <a:avLst>
              <a:gd name="adj" fmla="val 2083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9"/>
          <p:cNvSpPr/>
          <p:nvPr/>
        </p:nvSpPr>
        <p:spPr>
          <a:xfrm>
            <a:off x="867240" y="5324040"/>
            <a:ext cx="58852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Результаты точности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0"/>
          <p:cNvSpPr/>
          <p:nvPr/>
        </p:nvSpPr>
        <p:spPr>
          <a:xfrm>
            <a:off x="867240" y="5670720"/>
            <a:ext cx="5885280" cy="53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defTabSz="914400">
              <a:lnSpc>
                <a:spcPct val="131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Точность достигает </a:t>
            </a:r>
            <a:r>
              <a:rPr b="1" lang="en-US" sz="13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99,57%</a:t>
            </a: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. Максимальная ошибка снижается с </a:t>
            </a:r>
            <a:r>
              <a:rPr b="1" lang="en-US" sz="13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68,5</a:t>
            </a: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до </a:t>
            </a:r>
            <a:r>
              <a:rPr b="1" lang="en-US" sz="130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1,06</a:t>
            </a: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благодаря применению регрессионной коррекции на временных рядах.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8" name="Рисунок 13" descr=""/>
          <p:cNvPicPr/>
          <p:nvPr/>
        </p:nvPicPr>
        <p:blipFill>
          <a:blip r:embed="rId2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 0"/>
          <p:cNvSpPr/>
          <p:nvPr/>
        </p:nvSpPr>
        <p:spPr>
          <a:xfrm>
            <a:off x="698040" y="875880"/>
            <a:ext cx="1079532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Совместная валидация и вычислительные ресурсы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"/>
          <p:cNvSpPr/>
          <p:nvPr/>
        </p:nvSpPr>
        <p:spPr>
          <a:xfrm>
            <a:off x="698040" y="1825560"/>
            <a:ext cx="518436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Сквозная валидация пайплайна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"/>
          <p:cNvSpPr/>
          <p:nvPr/>
        </p:nvSpPr>
        <p:spPr>
          <a:xfrm>
            <a:off x="698040" y="2256480"/>
            <a:ext cx="518436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После обучения обоих компонентов проводится сквозная валидация на отложенной выборке. Процесс включает четыре этапа: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3"/>
          <p:cNvSpPr/>
          <p:nvPr/>
        </p:nvSpPr>
        <p:spPr>
          <a:xfrm>
            <a:off x="698040" y="3251160"/>
            <a:ext cx="5184360" cy="12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marL="274320" indent="-274320" defTabSz="914400">
              <a:lnSpc>
                <a:spcPct val="133000"/>
              </a:lnSpc>
              <a:buClr>
                <a:srgbClr val="d6e5ef"/>
              </a:buClr>
              <a:buFont typeface="Calibri Light"/>
              <a:buAutoNum type="arabicPeriod"/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Детектор выделяет область счёта на изображении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74320" defTabSz="914400">
              <a:lnSpc>
                <a:spcPct val="133000"/>
              </a:lnSpc>
              <a:buClr>
                <a:srgbClr val="d6e5ef"/>
              </a:buClr>
              <a:buFont typeface="Calibri Light"/>
              <a:buAutoNum type="arabicPeriod" startAt="2"/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OCR распознаёт цифры в выделенной области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74320" defTabSz="914400">
              <a:lnSpc>
                <a:spcPct val="133000"/>
              </a:lnSpc>
              <a:buClr>
                <a:srgbClr val="d6e5ef"/>
              </a:buClr>
              <a:buFont typeface="Calibri Light"/>
              <a:buAutoNum type="arabicPeriod" startAt="3"/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Постобработка формирует итоговое показание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74320" defTabSz="914400">
              <a:lnSpc>
                <a:spcPct val="133000"/>
              </a:lnSpc>
              <a:buClr>
                <a:srgbClr val="d6e5ef"/>
              </a:buClr>
              <a:buFont typeface="Calibri Light"/>
              <a:buAutoNum type="arabicPeriod" startAt="4"/>
            </a:pP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Сравнение с истинным значением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4"/>
          <p:cNvSpPr/>
          <p:nvPr/>
        </p:nvSpPr>
        <p:spPr>
          <a:xfrm>
            <a:off x="698040" y="4708080"/>
            <a:ext cx="5184360" cy="11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d6e5ef"/>
                </a:solidFill>
                <a:effectLst/>
                <a:uFillTx/>
                <a:latin typeface="Source Sans 3 Bold"/>
                <a:ea typeface="Source Sans 3 Bold"/>
              </a:rPr>
              <a:t>Метрики оценки:</a:t>
            </a:r>
            <a:r>
              <a:rPr b="0" lang="en-US" sz="135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 Accuracy (доля полностью верных показаний), MAE, MSE, максимальная ошибка. Дополнительно анализируется матрица ошибок для выявления систематических проблем распознавания.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5"/>
          <p:cNvSpPr/>
          <p:nvPr/>
        </p:nvSpPr>
        <p:spPr>
          <a:xfrm>
            <a:off x="6189480" y="1650960"/>
            <a:ext cx="5436000" cy="4330800"/>
          </a:xfrm>
          <a:prstGeom prst="roundRect">
            <a:avLst>
              <a:gd name="adj" fmla="val 604"/>
            </a:avLst>
          </a:prstGeom>
          <a:solidFill>
            <a:srgbClr val="f98a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6"/>
          <p:cNvSpPr/>
          <p:nvPr/>
        </p:nvSpPr>
        <p:spPr>
          <a:xfrm>
            <a:off x="6364080" y="1825560"/>
            <a:ext cx="50868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Lora"/>
                <a:ea typeface="Lora"/>
              </a:rPr>
              <a:t>Вычислительные ресурсы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7"/>
          <p:cNvSpPr/>
          <p:nvPr/>
        </p:nvSpPr>
        <p:spPr>
          <a:xfrm>
            <a:off x="6364080" y="2256480"/>
            <a:ext cx="50868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92500" lnSpcReduction="9999"/>
          </a:bodyPr>
          <a:p>
            <a:pPr marL="274320" indent="-274320" defTabSz="914400">
              <a:lnSpc>
                <a:spcPct val="133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GPU</a:t>
            </a: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: NVIDIA RTX 3090 (24 ГБ) или аналогичная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74320" defTabSz="914400">
              <a:lnSpc>
                <a:spcPct val="133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Время обучения</a:t>
            </a: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: детектор — 8–12 часов, OCR — 4–6 часов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74320" defTabSz="914400">
              <a:lnSpc>
                <a:spcPct val="133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Source Sans 3 Bold"/>
                <a:ea typeface="Source Sans 3 Bold"/>
              </a:rPr>
              <a:t>Фреймворки</a:t>
            </a: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: PyTorch, Ultralytics YOLOv8, PaddleOCR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8"/>
          <p:cNvSpPr/>
          <p:nvPr/>
        </p:nvSpPr>
        <p:spPr>
          <a:xfrm>
            <a:off x="6364080" y="3390840"/>
            <a:ext cx="50868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Lora"/>
                <a:ea typeface="Lora"/>
              </a:rPr>
              <a:t>Воспроизводимость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9"/>
          <p:cNvSpPr/>
          <p:nvPr/>
        </p:nvSpPr>
        <p:spPr>
          <a:xfrm>
            <a:off x="6364080" y="3822120"/>
            <a:ext cx="5086800" cy="12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marL="274320" indent="-274320" defTabSz="914400">
              <a:lnSpc>
                <a:spcPct val="133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Фиксация random seed для воспроизводимости экспериментов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74320" defTabSz="914400">
              <a:lnSpc>
                <a:spcPct val="133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Сохранение всех конфигураций обучения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74320" defTabSz="914400">
              <a:lnSpc>
                <a:spcPct val="133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00000"/>
                </a:solidFill>
                <a:effectLst/>
                <a:uFillTx/>
                <a:latin typeface="Source Sans 3"/>
                <a:ea typeface="Source Sans 3"/>
              </a:rPr>
              <a:t>Версионирование датасета через DVC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9" name="Рисунок 11" descr=""/>
          <p:cNvPicPr/>
          <p:nvPr/>
        </p:nvPicPr>
        <p:blipFill>
          <a:blip r:embed="rId1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 0"/>
          <p:cNvSpPr/>
          <p:nvPr/>
        </p:nvSpPr>
        <p:spPr>
          <a:xfrm>
            <a:off x="698040" y="479880"/>
            <a:ext cx="107953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Возможные проблемы и итоговые выводы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71" name="Table 0"/>
          <p:cNvGraphicFramePr/>
          <p:nvPr/>
        </p:nvGraphicFramePr>
        <p:xfrm>
          <a:off x="698040" y="1304640"/>
          <a:ext cx="10795320" cy="2883600"/>
        </p:xfrm>
        <a:graphic>
          <a:graphicData uri="http://schemas.openxmlformats.org/drawingml/2006/table">
            <a:tbl>
              <a:tblPr/>
              <a:tblGrid>
                <a:gridCol w="4857840"/>
                <a:gridCol w="5937480"/>
              </a:tblGrid>
              <a:tr h="478440">
                <a:tc>
                  <a:txBody>
                    <a:bodyPr lIns="168840" rIns="1688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Проблема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8840" marR="1688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252833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68840" rIns="1688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Решение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8840" marR="168840">
                    <a:lnL w="12240">
                      <a:solidFill>
                        <a:srgbClr val="252833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481680">
                <a:tc>
                  <a:txBody>
                    <a:bodyPr lIns="168840" rIns="1688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Переобучение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8840" marR="1688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252833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68840" rIns="1688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Early stopping, аугментация, dropout, weight decay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8840" marR="168840">
                    <a:lnL w="12240">
                      <a:solidFill>
                        <a:srgbClr val="252833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481680">
                <a:tc>
                  <a:txBody>
                    <a:bodyPr lIns="168840" rIns="1688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Дисбаланс классов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8840" marR="1688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252833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68840" rIns="1688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Взвешивание потерь, Focal Loss, оверсэмплинг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8840" marR="168840">
                    <a:lnL w="12240">
                      <a:solidFill>
                        <a:srgbClr val="252833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481680">
                <a:tc>
                  <a:txBody>
                    <a:bodyPr lIns="168840" rIns="1688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Медленная сходимость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8840" marR="1688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252833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68840" rIns="1688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Transfer learning, warmup, подбор learning rate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8840" marR="168840">
                    <a:lnL w="12240">
                      <a:solidFill>
                        <a:srgbClr val="252833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481680">
                <a:tc>
                  <a:txBody>
                    <a:bodyPr lIns="168840" rIns="1688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Нестабильность обучения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8840" marR="1688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252833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68840" rIns="1688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Gradient clipping, увеличение batch size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8840" marR="168840">
                    <a:lnL w="12240">
                      <a:solidFill>
                        <a:srgbClr val="252833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  <a:tr h="478440">
                <a:tc>
                  <a:txBody>
                    <a:bodyPr lIns="168840" rIns="1688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Плохая генерализация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8840" marR="168840">
                    <a:lnL w="12240">
                      <a:solidFill>
                        <a:srgbClr val="595c64"/>
                      </a:solidFill>
                      <a:prstDash val="solid"/>
                    </a:lnL>
                    <a:lnR w="12240">
                      <a:solidFill>
                        <a:srgbClr val="252833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 lIns="168840" rIns="168840" tIns="612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6e5ef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Кросс-валидация, расширение датасета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8840" marR="168840">
                    <a:lnL w="12240">
                      <a:solidFill>
                        <a:srgbClr val="252833"/>
                      </a:solidFill>
                      <a:prstDash val="solid"/>
                    </a:lnL>
                    <a:lnR w="12240">
                      <a:solidFill>
                        <a:srgbClr val="595c64"/>
                      </a:solidFill>
                      <a:prstDash val="solid"/>
                    </a:lnR>
                    <a:lnT w="12240">
                      <a:solidFill>
                        <a:srgbClr val="595c64"/>
                      </a:solidFill>
                      <a:prstDash val="solid"/>
                    </a:lnT>
                    <a:lnB w="12240">
                      <a:solidFill>
                        <a:srgbClr val="595c64"/>
                      </a:solidFill>
                      <a:prstDash val="solid"/>
                    </a:lnB>
                    <a:solidFill>
                      <a:srgbClr val="252833"/>
                    </a:solidFill>
                  </a:tcPr>
                </a:tc>
              </a:tr>
            </a:tbl>
          </a:graphicData>
        </a:graphic>
      </p:graphicFrame>
      <p:sp>
        <p:nvSpPr>
          <p:cNvPr id="372" name="Shape 1"/>
          <p:cNvSpPr/>
          <p:nvPr/>
        </p:nvSpPr>
        <p:spPr>
          <a:xfrm>
            <a:off x="698040" y="4385520"/>
            <a:ext cx="10795320" cy="1992600"/>
          </a:xfrm>
          <a:prstGeom prst="roundRect">
            <a:avLst>
              <a:gd name="adj" fmla="val 1273"/>
            </a:avLst>
          </a:prstGeom>
          <a:solidFill>
            <a:srgbClr val="7906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3" name="Image 0" descr="preencoded.png"/>
          <p:cNvPicPr/>
          <p:nvPr/>
        </p:nvPicPr>
        <p:blipFill>
          <a:blip r:embed="rId1"/>
          <a:stretch/>
        </p:blipFill>
        <p:spPr>
          <a:xfrm>
            <a:off x="867240" y="4621320"/>
            <a:ext cx="210960" cy="16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Text 2"/>
          <p:cNvSpPr/>
          <p:nvPr/>
        </p:nvSpPr>
        <p:spPr>
          <a:xfrm>
            <a:off x="1247400" y="4591440"/>
            <a:ext cx="10076760" cy="15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31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Процесс обучения системы распознавания показаний счётчиков электроэнергии включает независимое обучение детектора (YOLOv8n) и распознавателя (PP-OCRv3) с использованием трансферного обучения, тщательно подобранных гиперпараметров и аугментации данных. Для специализированных типов счётчиков применяются дополнительные методы (скользящее окно с регрессией, сегментация шкалы). Контроль переобучения обеспечивается early stopping и мониторингом метрик на валидации. Сквозная валидация подтверждает практическую применимость системы, а фиксация всех параметров гарантирует воспроизводимость результатов.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5" name="Рисунок 6" descr=""/>
          <p:cNvPicPr/>
          <p:nvPr/>
        </p:nvPicPr>
        <p:blipFill>
          <a:blip r:embed="rId2"/>
          <a:srcRect l="0" t="12037" r="0" b="36338"/>
          <a:stretch/>
        </p:blipFill>
        <p:spPr>
          <a:xfrm>
            <a:off x="10866240" y="6386760"/>
            <a:ext cx="1325520" cy="45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Image 0" descr="preencoded.png"/>
          <p:cNvPicPr/>
          <p:nvPr/>
        </p:nvPicPr>
        <p:blipFill>
          <a:blip r:embed="rId1"/>
          <a:stretch/>
        </p:blipFill>
        <p:spPr>
          <a:xfrm>
            <a:off x="7619760" y="0"/>
            <a:ext cx="4571640" cy="685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Text 0"/>
          <p:cNvSpPr/>
          <p:nvPr/>
        </p:nvSpPr>
        <p:spPr>
          <a:xfrm>
            <a:off x="698040" y="479880"/>
            <a:ext cx="622332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650" strike="noStrike" u="none">
                <a:solidFill>
                  <a:srgbClr val="f98ac7"/>
                </a:solidFill>
                <a:effectLst/>
                <a:uFillTx/>
                <a:latin typeface="Lora"/>
                <a:ea typeface="Lora"/>
              </a:rPr>
              <a:t>Итоговые результаты и практическая значимость</a:t>
            </a:r>
            <a:endParaRPr b="0" lang="ru-RU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"/>
          <p:cNvSpPr/>
          <p:nvPr/>
        </p:nvSpPr>
        <p:spPr>
          <a:xfrm>
            <a:off x="698040" y="1509840"/>
            <a:ext cx="3051720" cy="2052000"/>
          </a:xfrm>
          <a:prstGeom prst="roundRect">
            <a:avLst>
              <a:gd name="adj" fmla="val 1056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2"/>
          <p:cNvSpPr/>
          <p:nvPr/>
        </p:nvSpPr>
        <p:spPr>
          <a:xfrm>
            <a:off x="842400" y="1654200"/>
            <a:ext cx="27626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Мобильные приложения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3"/>
          <p:cNvSpPr/>
          <p:nvPr/>
        </p:nvSpPr>
        <p:spPr>
          <a:xfrm>
            <a:off x="842400" y="1938600"/>
            <a:ext cx="2762640" cy="14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Интеграция в приложения энергосбытовых компаний: пользователь фотографирует счётчик — система автоматически распознаёт показание и заполняет форму оплаты. Аналог уже реализован в приложении ВТБ (Smart Engines).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4"/>
          <p:cNvSpPr/>
          <p:nvPr/>
        </p:nvSpPr>
        <p:spPr>
          <a:xfrm>
            <a:off x="3869640" y="1509840"/>
            <a:ext cx="3051720" cy="2052000"/>
          </a:xfrm>
          <a:prstGeom prst="roundRect">
            <a:avLst>
              <a:gd name="adj" fmla="val 1056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5"/>
          <p:cNvSpPr/>
          <p:nvPr/>
        </p:nvSpPr>
        <p:spPr>
          <a:xfrm>
            <a:off x="4014360" y="1654200"/>
            <a:ext cx="27626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Edge-устройства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6"/>
          <p:cNvSpPr/>
          <p:nvPr/>
        </p:nvSpPr>
        <p:spPr>
          <a:xfrm>
            <a:off x="4014360" y="1938600"/>
            <a:ext cx="2762640" cy="84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Raspberry Pi 4 или ESP32-CAM с камерой для автономного сбора данных</a:t>
            </a:r>
            <a:r>
              <a:rPr b="0" lang="ru-RU" sz="11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.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7"/>
          <p:cNvSpPr/>
          <p:nvPr/>
        </p:nvSpPr>
        <p:spPr>
          <a:xfrm>
            <a:off x="698040" y="3682080"/>
            <a:ext cx="6223320" cy="1206720"/>
          </a:xfrm>
          <a:prstGeom prst="roundRect">
            <a:avLst>
              <a:gd name="adj" fmla="val 1796"/>
            </a:avLst>
          </a:prstGeom>
          <a:solidFill>
            <a:srgbClr val="4447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8"/>
          <p:cNvSpPr/>
          <p:nvPr/>
        </p:nvSpPr>
        <p:spPr>
          <a:xfrm>
            <a:off x="842400" y="3826440"/>
            <a:ext cx="59342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6e5ef"/>
                </a:solidFill>
                <a:effectLst/>
                <a:uFillTx/>
                <a:latin typeface="Lora"/>
                <a:ea typeface="Lora"/>
              </a:rPr>
              <a:t>Промышленный мониторинг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9"/>
          <p:cNvSpPr/>
          <p:nvPr/>
        </p:nvSpPr>
        <p:spPr>
          <a:xfrm>
            <a:off x="842400" y="4110480"/>
            <a:ext cx="5934240" cy="63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fontScale="85000" lnSpcReduction="9999"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5ef"/>
                </a:solidFill>
                <a:effectLst/>
                <a:uFillTx/>
                <a:latin typeface="Source Sans 3"/>
                <a:ea typeface="Source Sans 3"/>
              </a:rPr>
              <a:t>Автоматизация процесса снятия контрольных показаний на энергетических, промышленных объектах. Визуальный контроль за состоянием пломбировочного материала, схем подключения, аномальным расходом, попыток внешнего воздействия на прибор учёта.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0"/>
          <p:cNvSpPr/>
          <p:nvPr/>
        </p:nvSpPr>
        <p:spPr>
          <a:xfrm>
            <a:off x="698040" y="5059800"/>
            <a:ext cx="6223320" cy="1600200"/>
          </a:xfrm>
          <a:prstGeom prst="roundRect">
            <a:avLst>
              <a:gd name="adj" fmla="val 1599"/>
            </a:avLst>
          </a:prstGeom>
          <a:solidFill>
            <a:srgbClr val="7906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8" name="Image 1" descr="preencoded.png"/>
          <p:cNvPicPr/>
          <p:nvPr/>
        </p:nvPicPr>
        <p:blipFill>
          <a:blip r:embed="rId2"/>
          <a:stretch/>
        </p:blipFill>
        <p:spPr>
          <a:xfrm>
            <a:off x="842400" y="5192640"/>
            <a:ext cx="180360" cy="14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Text 11"/>
          <p:cNvSpPr/>
          <p:nvPr/>
        </p:nvSpPr>
        <p:spPr>
          <a:xfrm>
            <a:off x="1167840" y="5179680"/>
            <a:ext cx="5609160" cy="10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normAutofit lnSpcReduction="9999"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Source Sans 3 Bold"/>
                <a:ea typeface="Source Sans 3 Bold"/>
              </a:rPr>
              <a:t>Ключевой вывод:</a:t>
            </a: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 Двухэтапный пайплайн «YOLOv8n + PP-OCRv3» с модулем постобработки и интеграцией исторических данных подтверждает практическую применимость для автоматизации сбора показаний счётчиков электроэнергии в реальных условиях. Модульность архитектуры создаёт основу для дальнейшего развития и внедрения в энергетической отрасли.  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Liberation Sans" pitchFamily="0" charset="1"/>
        <a:cs typeface="Liberation Sans" pitchFamily="0" charset="1"/>
      </a:majorFont>
      <a:minorFont>
        <a:latin typeface="Calibri" pitchFamily="0" charset="1"/>
        <a:ea typeface="Liberation Sans" pitchFamily="0" charset="1"/>
        <a:cs typeface="Liberation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2026-09-16T18:00:37Z</dcterms:created>
  <dc:creator>user250g4</dc:creator>
  <dc:description/>
  <dc:language>ru-RU</dc:language>
  <cp:lastModifiedBy/>
  <dcterms:modified xsi:type="dcterms:W3CDTF">2026-09-18T14:44:58Z</dcterms:modified>
  <cp:revision>16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31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31</vt:i4>
  </property>
</Properties>
</file>